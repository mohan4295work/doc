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69" r:id="rId2"/>
    <p:sldId id="256" r:id="rId3"/>
    <p:sldId id="264" r:id="rId4"/>
    <p:sldId id="260" r:id="rId5"/>
    <p:sldId id="257" r:id="rId6"/>
    <p:sldId id="258" r:id="rId7"/>
    <p:sldId id="266" r:id="rId8"/>
    <p:sldId id="259" r:id="rId9"/>
    <p:sldId id="267" r:id="rId10"/>
    <p:sldId id="268" r:id="rId11"/>
    <p:sldId id="270" r:id="rId12"/>
    <p:sldId id="271" r:id="rId13"/>
    <p:sldId id="26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AC5B4D-D46A-47A1-BA45-86DCA06F1CFF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88231B-6461-4DCC-9DAA-06A6EEABA9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9674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8231B-6461-4DCC-9DAA-06A6EEABA9ED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0996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8231B-6461-4DCC-9DAA-06A6EEABA9ED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03831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1A95E-4C0E-47C3-99BA-4CA280822285}" type="datetime1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1511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C28E5-488F-490F-92C5-2205B56F743F}" type="datetime1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8293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CF267-1B02-4817-9A65-5E382C0CA52E}" type="datetime1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0916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334F-054E-44BC-9297-4325A99C352D}" type="datetime1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6629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4679C-8653-4994-9C00-354861EF59DB}" type="datetime1">
              <a:rPr lang="en-IN" smtClean="0"/>
              <a:t>08-11-2025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4678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C4BB-31C2-4257-B5C2-9EABF3317294}" type="datetime1">
              <a:rPr lang="en-IN" smtClean="0"/>
              <a:t>08-11-2025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84877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46222-1245-48E1-AA51-5ABA1BFC0F44}" type="datetime1">
              <a:rPr lang="en-IN" smtClean="0"/>
              <a:t>08-11-2025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8638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4C3BA-99EE-4821-8D0A-E1D319BDFECC}" type="datetime1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26300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C996A-B179-4052-B159-145F03CD1C19}" type="datetime1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3659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4BC1E-7EA4-4308-9013-A358519E8BD2}" type="datetime1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2537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9D21A-723A-45B5-A6B6-78A78CE57540}" type="datetime1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8318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C6AE37-3E25-445F-9A60-35C9D0284302}" type="datetime1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9097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hyperlink" Target="https://app.netlify.com/teams/mohan4295work/projects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chatgpt.com/" TargetMode="External"/><Relationship Id="rId13" Type="http://schemas.openxmlformats.org/officeDocument/2006/relationships/hyperlink" Target="https://www.netlify.com/" TargetMode="External"/><Relationship Id="rId3" Type="http://schemas.openxmlformats.org/officeDocument/2006/relationships/hyperlink" Target="https://mohan4295.blogspot.com/" TargetMode="External"/><Relationship Id="rId7" Type="http://schemas.openxmlformats.org/officeDocument/2006/relationships/image" Target="../media/image29.png"/><Relationship Id="rId12" Type="http://schemas.openxmlformats.org/officeDocument/2006/relationships/hyperlink" Target="https://webenoid.com/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hyperlink" Target="https://chat.deepseek.com/" TargetMode="External"/><Relationship Id="rId5" Type="http://schemas.openxmlformats.org/officeDocument/2006/relationships/hyperlink" Target="https://gitlab.com/mohan4295work" TargetMode="External"/><Relationship Id="rId10" Type="http://schemas.openxmlformats.org/officeDocument/2006/relationships/hyperlink" Target="https://gemini.google.com/" TargetMode="External"/><Relationship Id="rId4" Type="http://schemas.openxmlformats.org/officeDocument/2006/relationships/hyperlink" Target="https://github.com/mohan4295work" TargetMode="External"/><Relationship Id="rId9" Type="http://schemas.openxmlformats.org/officeDocument/2006/relationships/hyperlink" Target="https://claude.ai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pic>
        <p:nvPicPr>
          <p:cNvPr id="1026" name="Picture 2" descr="Warning Images - Free Download on Freepik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599" y="399245"/>
            <a:ext cx="1158584" cy="1158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/>
          <p:cNvSpPr/>
          <p:nvPr/>
        </p:nvSpPr>
        <p:spPr>
          <a:xfrm>
            <a:off x="990599" y="1725254"/>
            <a:ext cx="9943563" cy="35086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IN" sz="2400" b="1" dirty="0"/>
              <a:t>AI Tools Usage Policy – Email </a:t>
            </a:r>
            <a:r>
              <a:rPr lang="en-IN" sz="2400" b="1" dirty="0" smtClean="0"/>
              <a:t>Guidelines:</a:t>
            </a:r>
          </a:p>
          <a:p>
            <a:pPr algn="just"/>
            <a:endParaRPr lang="en-IN" b="1" dirty="0"/>
          </a:p>
          <a:p>
            <a:pPr algn="just"/>
            <a:r>
              <a:rPr lang="en-IN" sz="2000" dirty="0"/>
              <a:t>To ensure data privacy and maintain professional boundaries during AI tool experimentation:</a:t>
            </a:r>
          </a:p>
          <a:p>
            <a:pPr algn="just"/>
            <a:endParaRPr lang="en-IN" sz="20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sz="2000" b="1" dirty="0"/>
              <a:t>Do not use personal or finance-linked email IDs </a:t>
            </a:r>
            <a:r>
              <a:rPr lang="en-IN" sz="2000" dirty="0"/>
              <a:t>when testing or evaluating AI tools.</a:t>
            </a:r>
          </a:p>
          <a:p>
            <a:pPr algn="just"/>
            <a:endParaRPr lang="en-IN" sz="20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sz="2000" b="1" dirty="0"/>
              <a:t>Create a separate, dedicated email account </a:t>
            </a:r>
            <a:r>
              <a:rPr lang="en-IN" sz="2000" dirty="0"/>
              <a:t>specifically for learning, testing, and development purposes.</a:t>
            </a:r>
          </a:p>
          <a:p>
            <a:pPr algn="just"/>
            <a:endParaRPr lang="en-IN" sz="2000" dirty="0"/>
          </a:p>
          <a:p>
            <a:pPr algn="just"/>
            <a:r>
              <a:rPr lang="en-IN" sz="2000" dirty="0">
                <a:latin typeface="Arial Narrow" panose="020B0606020202030204" pitchFamily="34" charset="0"/>
              </a:rPr>
              <a:t>This practice helps safeguard sensitive information and ensures a clean separation between personal data and experimental workflows.</a:t>
            </a:r>
          </a:p>
        </p:txBody>
      </p:sp>
    </p:spTree>
    <p:extLst>
      <p:ext uri="{BB962C8B-B14F-4D97-AF65-F5344CB8AC3E}">
        <p14:creationId xmlns:p14="http://schemas.microsoft.com/office/powerpoint/2010/main" val="160553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62264" y="99463"/>
            <a:ext cx="5237409" cy="637974"/>
          </a:xfrm>
        </p:spPr>
        <p:txBody>
          <a:bodyPr>
            <a:noAutofit/>
          </a:bodyPr>
          <a:lstStyle/>
          <a:p>
            <a:r>
              <a:rPr lang="en-IN" sz="4000" b="1" dirty="0" smtClean="0">
                <a:solidFill>
                  <a:srgbClr val="C00000"/>
                </a:solidFill>
              </a:rPr>
              <a:t>AI (Artificial Intelligence)</a:t>
            </a:r>
            <a:r>
              <a:rPr lang="en-IN" sz="4000" dirty="0" smtClean="0">
                <a:solidFill>
                  <a:srgbClr val="C00000"/>
                </a:solidFill>
              </a:rPr>
              <a:t> </a:t>
            </a:r>
            <a:endParaRPr lang="en-IN" sz="4000" dirty="0">
              <a:solidFill>
                <a:srgbClr val="C00000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58828" y="805399"/>
            <a:ext cx="11444282" cy="1788998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/>
              <a:t>1956</a:t>
            </a:r>
            <a:r>
              <a:rPr lang="en-US" dirty="0" smtClean="0"/>
              <a:t> – </a:t>
            </a:r>
            <a:r>
              <a:rPr lang="en-US" b="1" dirty="0" smtClean="0"/>
              <a:t>“Artificial Intelligence”</a:t>
            </a:r>
            <a:r>
              <a:rPr lang="en-US" dirty="0" smtClean="0"/>
              <a:t> was coined at the </a:t>
            </a:r>
            <a:r>
              <a:rPr lang="en-US" b="1" dirty="0" smtClean="0"/>
              <a:t>Dartmouth Conference</a:t>
            </a:r>
            <a:r>
              <a:rPr lang="en-US" dirty="0" smtClean="0"/>
              <a:t> This event is considered the </a:t>
            </a:r>
            <a:r>
              <a:rPr lang="en-US" b="1" dirty="0" smtClean="0"/>
              <a:t>birth of AI</a:t>
            </a:r>
            <a:r>
              <a:rPr lang="en-US" dirty="0" smtClean="0"/>
              <a:t> as a research field.</a:t>
            </a:r>
          </a:p>
          <a:p>
            <a:pPr algn="just"/>
            <a:r>
              <a:rPr lang="en-US" b="1" dirty="0" smtClean="0"/>
              <a:t>Artificial Intelligence (AI)</a:t>
            </a:r>
            <a:r>
              <a:rPr lang="en-US" dirty="0" smtClean="0"/>
              <a:t> - Machines think, learn, and act like humans. It's about creating systems that can perceive, reason, learn, and make decisions.</a:t>
            </a:r>
          </a:p>
          <a:p>
            <a:pPr algn="l"/>
            <a:endParaRPr lang="en-US" dirty="0" smtClean="0"/>
          </a:p>
          <a:p>
            <a:pPr algn="l"/>
            <a:endParaRPr lang="en-US" dirty="0"/>
          </a:p>
          <a:p>
            <a:pPr algn="l"/>
            <a:endParaRPr lang="en-US" dirty="0" smtClean="0"/>
          </a:p>
          <a:p>
            <a:pPr algn="l"/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41668" y="6356350"/>
            <a:ext cx="11861442" cy="365125"/>
          </a:xfrm>
        </p:spPr>
        <p:txBody>
          <a:bodyPr/>
          <a:lstStyle/>
          <a:p>
            <a:pPr algn="l"/>
            <a:r>
              <a:rPr lang="en-IN" dirty="0" smtClean="0"/>
              <a:t>MOHAN SUNDARAM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828" y="2730322"/>
            <a:ext cx="4534033" cy="341283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598017" y="2906110"/>
            <a:ext cx="6096000" cy="1631216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en-US" sz="2000" b="1" dirty="0"/>
              <a:t>Machine learning </a:t>
            </a:r>
            <a:r>
              <a:rPr lang="en-US" sz="2000" dirty="0"/>
              <a:t>(ML) is a </a:t>
            </a:r>
            <a:r>
              <a:rPr lang="en-IN" sz="2000" dirty="0"/>
              <a:t>Sub </a:t>
            </a:r>
            <a:r>
              <a:rPr lang="en-IN" sz="2000" dirty="0" smtClean="0"/>
              <a:t>domain of </a:t>
            </a:r>
            <a:r>
              <a:rPr lang="en-US" sz="2000" dirty="0" smtClean="0"/>
              <a:t>artificial </a:t>
            </a:r>
            <a:r>
              <a:rPr lang="en-US" sz="2000" dirty="0"/>
              <a:t>intelligence (AI). It focuses on creating methods that help computers learn from data and improve their performance on specific tasks. It is one of the main areas within AI.</a:t>
            </a:r>
            <a:endParaRPr lang="en-IN" sz="2000" dirty="0"/>
          </a:p>
        </p:txBody>
      </p:sp>
      <p:sp>
        <p:nvSpPr>
          <p:cNvPr id="7" name="Rectangle 6"/>
          <p:cNvSpPr/>
          <p:nvPr/>
        </p:nvSpPr>
        <p:spPr>
          <a:xfrm>
            <a:off x="5598017" y="4733129"/>
            <a:ext cx="6096000" cy="1323439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en-US" sz="2000" b="1" dirty="0"/>
              <a:t>Deep learning (DL) </a:t>
            </a:r>
            <a:r>
              <a:rPr lang="en-US" sz="2000" dirty="0"/>
              <a:t>is a </a:t>
            </a:r>
            <a:r>
              <a:rPr lang="en-IN" sz="2000" dirty="0"/>
              <a:t>Sub domain of </a:t>
            </a:r>
            <a:r>
              <a:rPr lang="en-US" sz="2000" dirty="0" smtClean="0"/>
              <a:t>of </a:t>
            </a:r>
            <a:r>
              <a:rPr lang="en-IN" sz="2000" dirty="0"/>
              <a:t>Machine learning (ML</a:t>
            </a:r>
            <a:r>
              <a:rPr lang="en-IN" sz="2000" dirty="0" smtClean="0"/>
              <a:t>). </a:t>
            </a:r>
            <a:r>
              <a:rPr lang="en-US" sz="2000" dirty="0" smtClean="0"/>
              <a:t>It </a:t>
            </a:r>
            <a:r>
              <a:rPr lang="en-US" sz="2000" dirty="0"/>
              <a:t>uses computer models called neural networks to learn from large amounts of data and make smart decisions.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858129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5025" y="1252580"/>
            <a:ext cx="7436922" cy="51037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27250" y="162910"/>
            <a:ext cx="3397775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b="1" dirty="0"/>
              <a:t>Ai System Types</a:t>
            </a:r>
            <a:r>
              <a:rPr lang="en-US" sz="3600" b="1" dirty="0" smtClean="0"/>
              <a:t>:</a:t>
            </a:r>
          </a:p>
          <a:p>
            <a:endParaRPr lang="en-US" sz="36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3200" b="1" dirty="0">
                <a:solidFill>
                  <a:srgbClr val="FF0000"/>
                </a:solidFill>
              </a:rPr>
              <a:t>Generative AI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3200" b="1" dirty="0">
                <a:solidFill>
                  <a:srgbClr val="00B0F0"/>
                </a:solidFill>
              </a:rPr>
              <a:t>AI </a:t>
            </a:r>
            <a:r>
              <a:rPr lang="it-IT" sz="3200" b="1" dirty="0" smtClean="0">
                <a:solidFill>
                  <a:srgbClr val="00B0F0"/>
                </a:solidFill>
              </a:rPr>
              <a:t>Agents</a:t>
            </a:r>
            <a:endParaRPr lang="it-IT" sz="3200" b="1" dirty="0">
              <a:solidFill>
                <a:srgbClr val="00B0F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3200" b="1" dirty="0">
                <a:solidFill>
                  <a:srgbClr val="00B050"/>
                </a:solidFill>
              </a:rPr>
              <a:t>Agentic AI</a:t>
            </a:r>
            <a:endParaRPr lang="en-US" sz="32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08991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8387" y="120316"/>
            <a:ext cx="3540617" cy="510638"/>
          </a:xfrm>
        </p:spPr>
        <p:txBody>
          <a:bodyPr>
            <a:normAutofit/>
          </a:bodyPr>
          <a:lstStyle/>
          <a:p>
            <a:r>
              <a:rPr lang="en-IN" sz="2000" b="1" dirty="0" smtClean="0"/>
              <a:t>LLM = Large Language Model</a:t>
            </a:r>
            <a:endParaRPr lang="en-IN" sz="2000" b="1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63" y="2228046"/>
            <a:ext cx="11455926" cy="44693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8387" y="764885"/>
            <a:ext cx="1128169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IN" b="1" dirty="0" smtClean="0"/>
              <a:t>LLM</a:t>
            </a:r>
            <a:r>
              <a:rPr lang="en-IN" dirty="0" smtClean="0"/>
              <a:t> stands for Large Language Model, a type of artificial intelligence trained on vast amounts of text data to understand, process, and generate human-like text. These models use transformer architectures to learn language patterns and context, enabling them to perform tasks like text generation, translation, summarization, question-answering, and content creation.</a:t>
            </a:r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9929611" y="6259133"/>
            <a:ext cx="1791235" cy="365125"/>
          </a:xfrm>
        </p:spPr>
        <p:txBody>
          <a:bodyPr/>
          <a:lstStyle/>
          <a:p>
            <a:r>
              <a:rPr lang="en-IN" b="1" dirty="0" smtClean="0"/>
              <a:t>MOHAN SUNDARAM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1462049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8626543"/>
              </p:ext>
            </p:extLst>
          </p:nvPr>
        </p:nvGraphicFramePr>
        <p:xfrm>
          <a:off x="450760" y="552323"/>
          <a:ext cx="11462200" cy="29647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550"/>
                <a:gridCol w="2865550"/>
                <a:gridCol w="2865550"/>
                <a:gridCol w="2865550"/>
              </a:tblGrid>
              <a:tr h="49583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Ai System</a:t>
                      </a:r>
                      <a:r>
                        <a:rPr lang="en-US" sz="2400" baseline="0" dirty="0" smtClean="0"/>
                        <a:t> Type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Gen Ai (LLM Only)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Ai Agent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Agentic Ai</a:t>
                      </a:r>
                      <a:endParaRPr lang="en-IN" sz="2400" dirty="0"/>
                    </a:p>
                  </a:txBody>
                  <a:tcPr/>
                </a:tc>
              </a:tr>
              <a:tr h="495837">
                <a:tc>
                  <a:txBody>
                    <a:bodyPr/>
                    <a:lstStyle/>
                    <a:p>
                      <a:r>
                        <a:rPr lang="en-US" sz="2000" b="1" dirty="0" smtClean="0"/>
                        <a:t>Task Capability </a:t>
                      </a:r>
                      <a:endParaRPr lang="en-IN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Answer based on pre Trained</a:t>
                      </a:r>
                      <a:r>
                        <a:rPr lang="en-US" baseline="0" dirty="0" smtClean="0"/>
                        <a:t> knowledge only.</a:t>
                      </a:r>
                    </a:p>
                    <a:p>
                      <a:r>
                        <a:rPr lang="en-US" baseline="0" dirty="0" smtClean="0"/>
                        <a:t>Like Text, images, audio and videos ChatGPT, Gemini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Task Input, Decide and</a:t>
                      </a:r>
                      <a:r>
                        <a:rPr lang="en-US" baseline="0" dirty="0" smtClean="0"/>
                        <a:t> Action/Completes a task using tools,Memroy,Data,api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Handle the</a:t>
                      </a:r>
                      <a:r>
                        <a:rPr lang="en-US" baseline="0" dirty="0" smtClean="0"/>
                        <a:t> multiple step with planning and co-ordination </a:t>
                      </a:r>
                      <a:endParaRPr lang="en-IN" dirty="0"/>
                    </a:p>
                  </a:txBody>
                  <a:tcPr/>
                </a:tc>
              </a:tr>
              <a:tr h="495837">
                <a:tc>
                  <a:txBody>
                    <a:bodyPr/>
                    <a:lstStyle/>
                    <a:p>
                      <a:r>
                        <a:rPr lang="en-US" sz="2000" b="1" dirty="0" smtClean="0"/>
                        <a:t>Tool</a:t>
                      </a:r>
                      <a:endParaRPr lang="en-IN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No Extra Tool  </a:t>
                      </a:r>
                      <a:r>
                        <a:rPr lang="en-US" dirty="0" smtClean="0">
                          <a:sym typeface="Wingdings" panose="05000000000000000000" pitchFamily="2" charset="2"/>
                        </a:rPr>
                        <a:t>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Uses</a:t>
                      </a:r>
                      <a:r>
                        <a:rPr lang="en-US" baseline="0" dirty="0" smtClean="0"/>
                        <a:t> the Tools to complete the task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Uses multiple tools</a:t>
                      </a:r>
                      <a:r>
                        <a:rPr lang="en-US" baseline="0" dirty="0" smtClean="0"/>
                        <a:t> and call other AI agents.</a:t>
                      </a:r>
                      <a:endParaRPr lang="en-IN" dirty="0"/>
                    </a:p>
                  </a:txBody>
                  <a:tcPr/>
                </a:tc>
              </a:tr>
              <a:tr h="495837">
                <a:tc>
                  <a:txBody>
                    <a:bodyPr/>
                    <a:lstStyle/>
                    <a:p>
                      <a:r>
                        <a:rPr lang="en-US" sz="2000" b="1" dirty="0" smtClean="0"/>
                        <a:t>Decision</a:t>
                      </a:r>
                      <a:endParaRPr lang="en-IN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No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dirty="0" smtClean="0"/>
                        <a:t>Decision Making </a:t>
                      </a:r>
                      <a:r>
                        <a:rPr lang="en-US" dirty="0" smtClean="0">
                          <a:sym typeface="Wingdings" panose="05000000000000000000" pitchFamily="2" charset="2"/>
                        </a:rPr>
                        <a:t>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Make Decision complete the</a:t>
                      </a:r>
                    </a:p>
                    <a:p>
                      <a:r>
                        <a:rPr lang="en-US" dirty="0" smtClean="0"/>
                        <a:t>task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Plan , Decide and</a:t>
                      </a:r>
                      <a:r>
                        <a:rPr lang="en-US" baseline="0" dirty="0" smtClean="0"/>
                        <a:t> Autonomous </a:t>
                      </a:r>
                      <a:r>
                        <a:rPr lang="en-US" dirty="0" smtClean="0"/>
                        <a:t>Decision</a:t>
                      </a:r>
                      <a:endParaRPr lang="en-IN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073" y="4606503"/>
            <a:ext cx="5604066" cy="2091182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8337" y="4638247"/>
            <a:ext cx="3825190" cy="2051693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60" y="3580498"/>
            <a:ext cx="4764856" cy="1006782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>
          <a:xfrm>
            <a:off x="58864" y="6373143"/>
            <a:ext cx="2048091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sp>
        <p:nvSpPr>
          <p:cNvPr id="7" name="Oval 6"/>
          <p:cNvSpPr/>
          <p:nvPr/>
        </p:nvSpPr>
        <p:spPr>
          <a:xfrm>
            <a:off x="4417454" y="90152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8" name="Oval 7"/>
          <p:cNvSpPr/>
          <p:nvPr/>
        </p:nvSpPr>
        <p:spPr>
          <a:xfrm>
            <a:off x="7441843" y="90151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2</a:t>
            </a:r>
            <a:endParaRPr lang="en-IN" sz="4000" b="1" dirty="0"/>
          </a:p>
        </p:txBody>
      </p:sp>
      <p:sp>
        <p:nvSpPr>
          <p:cNvPr id="11" name="Oval 10"/>
          <p:cNvSpPr/>
          <p:nvPr/>
        </p:nvSpPr>
        <p:spPr>
          <a:xfrm>
            <a:off x="10205476" y="90151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  <a:endParaRPr lang="en-IN" sz="4000" b="1" dirty="0"/>
          </a:p>
        </p:txBody>
      </p:sp>
      <p:sp>
        <p:nvSpPr>
          <p:cNvPr id="12" name="Oval 11"/>
          <p:cNvSpPr/>
          <p:nvPr/>
        </p:nvSpPr>
        <p:spPr>
          <a:xfrm>
            <a:off x="1775139" y="3600485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13" name="Oval 12"/>
          <p:cNvSpPr/>
          <p:nvPr/>
        </p:nvSpPr>
        <p:spPr>
          <a:xfrm>
            <a:off x="4017054" y="6156993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2</a:t>
            </a:r>
            <a:endParaRPr lang="en-IN" sz="4000" b="1" dirty="0"/>
          </a:p>
        </p:txBody>
      </p:sp>
      <p:sp>
        <p:nvSpPr>
          <p:cNvPr id="14" name="Oval 13"/>
          <p:cNvSpPr/>
          <p:nvPr/>
        </p:nvSpPr>
        <p:spPr>
          <a:xfrm>
            <a:off x="11169245" y="6182077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  <a:endParaRPr lang="en-IN" sz="4000" b="1" dirty="0"/>
          </a:p>
        </p:txBody>
      </p:sp>
    </p:spTree>
    <p:extLst>
      <p:ext uri="{BB962C8B-B14F-4D97-AF65-F5344CB8AC3E}">
        <p14:creationId xmlns:p14="http://schemas.microsoft.com/office/powerpoint/2010/main" val="1417011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1231" y="287852"/>
            <a:ext cx="4519411" cy="435651"/>
          </a:xfrm>
        </p:spPr>
        <p:txBody>
          <a:bodyPr>
            <a:noAutofit/>
          </a:bodyPr>
          <a:lstStyle/>
          <a:p>
            <a:r>
              <a:rPr lang="en-IN" sz="2000" b="1" dirty="0" smtClean="0"/>
              <a:t>RAG = Retrieval Augmented Generation</a:t>
            </a:r>
            <a:endParaRPr lang="en-IN" sz="2000" b="1" dirty="0"/>
          </a:p>
        </p:txBody>
      </p:sp>
      <p:sp>
        <p:nvSpPr>
          <p:cNvPr id="5" name="Rectangle 4"/>
          <p:cNvSpPr/>
          <p:nvPr/>
        </p:nvSpPr>
        <p:spPr>
          <a:xfrm>
            <a:off x="941230" y="927281"/>
            <a:ext cx="1094596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 smtClean="0"/>
              <a:t>RAG is an AI framework that improves the output of large language models (LLMs) by giving them access to external or private data up-to-date knowledge bases before generating a response.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 smtClean="0"/>
              <a:t>RAG Powerful Knowledge base retrieval.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 smtClean="0"/>
              <a:t>RAG input text and get the output improved text output.</a:t>
            </a:r>
            <a:endParaRPr lang="en-IN" dirty="0"/>
          </a:p>
        </p:txBody>
      </p:sp>
      <p:sp>
        <p:nvSpPr>
          <p:cNvPr id="6" name="AutoShape 2" descr="How-Rag-work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060305" y="6507309"/>
            <a:ext cx="2396544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3338" y="2331388"/>
            <a:ext cx="10250477" cy="415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051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665113" y="6214682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20" y="1624572"/>
            <a:ext cx="11765319" cy="40678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86866" y="699074"/>
            <a:ext cx="289604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2800" b="1" dirty="0"/>
              <a:t>RAG </a:t>
            </a:r>
            <a:r>
              <a:rPr lang="en-US" sz="2800" b="1" dirty="0" smtClean="0"/>
              <a:t>Framework:- 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06786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7328" y="349826"/>
            <a:ext cx="4219979" cy="433365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MCP - Model Context Protocol</a:t>
            </a:r>
            <a:endParaRPr lang="en-IN" sz="2400" b="1" dirty="0"/>
          </a:p>
        </p:txBody>
      </p:sp>
      <p:sp>
        <p:nvSpPr>
          <p:cNvPr id="4" name="Rectangle 3"/>
          <p:cNvSpPr/>
          <p:nvPr/>
        </p:nvSpPr>
        <p:spPr>
          <a:xfrm>
            <a:off x="789903" y="940159"/>
            <a:ext cx="1071093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Open-source framework that allows large language models (LLMs) to securely and standardized interact with external data sources and tools </a:t>
            </a:r>
            <a:r>
              <a:rPr lang="en-US" dirty="0" smtClean="0"/>
              <a:t>API, application,databases..</a:t>
            </a:r>
            <a:r>
              <a:rPr lang="en-US" dirty="0"/>
              <a:t>etc</a:t>
            </a:r>
            <a:r>
              <a:rPr lang="en-US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MCP input text and get the output improved text and action output.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RAG and MCP combined integration tools more powerful.</a:t>
            </a:r>
            <a:endParaRPr lang="en-IN" dirty="0" smtClean="0"/>
          </a:p>
          <a:p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436" y="2692306"/>
            <a:ext cx="7557081" cy="3943223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72428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-1169479" y="6469637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sp>
        <p:nvSpPr>
          <p:cNvPr id="5" name="Rectangle 4"/>
          <p:cNvSpPr/>
          <p:nvPr/>
        </p:nvSpPr>
        <p:spPr>
          <a:xfrm>
            <a:off x="1421101" y="468327"/>
            <a:ext cx="35543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solidFill>
                  <a:srgbClr val="0070C0"/>
                </a:solidFill>
              </a:rPr>
              <a:t>https://www.claude.com/download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468" y="837659"/>
            <a:ext cx="4471652" cy="2016327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894" y="837659"/>
            <a:ext cx="4307314" cy="2031188"/>
          </a:xfrm>
          <a:prstGeom prst="rect">
            <a:avLst/>
          </a:prstGeom>
        </p:spPr>
      </p:pic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992709" y="92814"/>
            <a:ext cx="2206581" cy="433365"/>
          </a:xfrm>
        </p:spPr>
        <p:txBody>
          <a:bodyPr>
            <a:noAutofit/>
          </a:bodyPr>
          <a:lstStyle/>
          <a:p>
            <a:r>
              <a:rPr lang="en-US" sz="2400" b="1" dirty="0" smtClean="0">
                <a:solidFill>
                  <a:srgbClr val="0000FF"/>
                </a:solidFill>
              </a:rPr>
              <a:t>MCP – Example </a:t>
            </a:r>
            <a:endParaRPr lang="en-IN" sz="2400" b="1" dirty="0">
              <a:solidFill>
                <a:srgbClr val="0000FF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150" y="2941650"/>
            <a:ext cx="6299847" cy="3721883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2640" y="2919721"/>
            <a:ext cx="3051228" cy="1606764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72640" y="4683851"/>
            <a:ext cx="3214755" cy="168897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51677" y="1133873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17" name="Oval 16"/>
          <p:cNvSpPr/>
          <p:nvPr/>
        </p:nvSpPr>
        <p:spPr>
          <a:xfrm>
            <a:off x="8116057" y="275991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2</a:t>
            </a:r>
            <a:endParaRPr lang="en-IN" sz="4000" b="1" dirty="0"/>
          </a:p>
        </p:txBody>
      </p:sp>
      <p:sp>
        <p:nvSpPr>
          <p:cNvPr id="18" name="Oval 17"/>
          <p:cNvSpPr/>
          <p:nvPr/>
        </p:nvSpPr>
        <p:spPr>
          <a:xfrm>
            <a:off x="887921" y="4116302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3</a:t>
            </a:r>
            <a:endParaRPr lang="en-IN" sz="4000" b="1" dirty="0"/>
          </a:p>
        </p:txBody>
      </p:sp>
      <p:sp>
        <p:nvSpPr>
          <p:cNvPr id="19" name="Oval 18"/>
          <p:cNvSpPr/>
          <p:nvPr/>
        </p:nvSpPr>
        <p:spPr>
          <a:xfrm>
            <a:off x="8644091" y="3238801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4</a:t>
            </a:r>
            <a:endParaRPr lang="en-IN" sz="4000" b="1" dirty="0"/>
          </a:p>
        </p:txBody>
      </p:sp>
    </p:spTree>
    <p:extLst>
      <p:ext uri="{BB962C8B-B14F-4D97-AF65-F5344CB8AC3E}">
        <p14:creationId xmlns:p14="http://schemas.microsoft.com/office/powerpoint/2010/main" val="8695299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987084" y="6554821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81" y="2900423"/>
            <a:ext cx="3867150" cy="370994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81" y="238460"/>
            <a:ext cx="3867150" cy="254317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5815" y="96792"/>
            <a:ext cx="7162800" cy="49149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94947" y="374019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5</a:t>
            </a:r>
            <a:endParaRPr lang="en-IN" sz="4000" b="1" dirty="0"/>
          </a:p>
        </p:txBody>
      </p:sp>
      <p:sp>
        <p:nvSpPr>
          <p:cNvPr id="12" name="Oval 11"/>
          <p:cNvSpPr/>
          <p:nvPr/>
        </p:nvSpPr>
        <p:spPr>
          <a:xfrm>
            <a:off x="94947" y="4121150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6</a:t>
            </a:r>
            <a:endParaRPr lang="en-IN" sz="4000" b="1" dirty="0"/>
          </a:p>
        </p:txBody>
      </p:sp>
      <p:sp>
        <p:nvSpPr>
          <p:cNvPr id="13" name="Oval 12"/>
          <p:cNvSpPr/>
          <p:nvPr/>
        </p:nvSpPr>
        <p:spPr>
          <a:xfrm>
            <a:off x="10844011" y="174065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7</a:t>
            </a:r>
            <a:endParaRPr lang="en-IN" sz="4000" b="1" dirty="0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8040" y="4010047"/>
            <a:ext cx="8410575" cy="2600325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7455190" y="4286077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8</a:t>
            </a:r>
            <a:endParaRPr lang="en-IN" sz="4000" b="1" dirty="0"/>
          </a:p>
        </p:txBody>
      </p:sp>
    </p:spTree>
    <p:extLst>
      <p:ext uri="{BB962C8B-B14F-4D97-AF65-F5344CB8AC3E}">
        <p14:creationId xmlns:p14="http://schemas.microsoft.com/office/powerpoint/2010/main" val="29849935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565397" y="180304"/>
            <a:ext cx="1108998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rgbClr val="0000FF"/>
                </a:solidFill>
              </a:rPr>
              <a:t>AI prompt </a:t>
            </a:r>
            <a:r>
              <a:rPr lang="en-IN" sz="2400" b="1" dirty="0" smtClean="0">
                <a:solidFill>
                  <a:srgbClr val="0000FF"/>
                </a:solidFill>
              </a:rPr>
              <a:t>Engineering:</a:t>
            </a:r>
          </a:p>
          <a:p>
            <a:endParaRPr lang="en-US" dirty="0"/>
          </a:p>
          <a:p>
            <a:r>
              <a:rPr lang="en-US" dirty="0"/>
              <a:t>Create a friends-themed snake game with background music, obstacles, power-ups, and speed boosts. Make it ready to deploy PWA (Manifest, Service worker, icons) and give me a zip with all the assets included.</a:t>
            </a:r>
            <a:endParaRPr lang="en-IN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508" y="1378306"/>
            <a:ext cx="8124825" cy="241935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649" y="3797656"/>
            <a:ext cx="7058025" cy="149542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3510566" y="1815694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11" name="Oval 10"/>
          <p:cNvSpPr/>
          <p:nvPr/>
        </p:nvSpPr>
        <p:spPr>
          <a:xfrm>
            <a:off x="3510566" y="3134030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  <a:endParaRPr lang="en-IN" sz="4000" b="1" dirty="0"/>
          </a:p>
        </p:txBody>
      </p:sp>
      <p:sp>
        <p:nvSpPr>
          <p:cNvPr id="12" name="Oval 11"/>
          <p:cNvSpPr/>
          <p:nvPr/>
        </p:nvSpPr>
        <p:spPr>
          <a:xfrm>
            <a:off x="1296955" y="4189089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  <a:endParaRPr lang="en-IN" sz="4000" b="1" dirty="0"/>
          </a:p>
        </p:txBody>
      </p:sp>
      <p:sp>
        <p:nvSpPr>
          <p:cNvPr id="13" name="Rectangle 12"/>
          <p:cNvSpPr/>
          <p:nvPr/>
        </p:nvSpPr>
        <p:spPr>
          <a:xfrm>
            <a:off x="1987062" y="5634286"/>
            <a:ext cx="72456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dirty="0">
                <a:hlinkClick r:id="rId4"/>
              </a:rPr>
              <a:t>https://</a:t>
            </a:r>
            <a:r>
              <a:rPr lang="en-IN" dirty="0" smtClean="0">
                <a:hlinkClick r:id="rId4"/>
              </a:rPr>
              <a:t>app.netlify.com/teams/mohan4295work/projects</a:t>
            </a:r>
            <a:endParaRPr lang="en-IN" dirty="0" smtClean="0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4124" y="4995658"/>
            <a:ext cx="3535382" cy="1543285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1296955" y="5415652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  <a:endParaRPr lang="en-IN" sz="4000" b="1" dirty="0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01911" y="1472966"/>
            <a:ext cx="1219200" cy="352425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1987062" y="5290753"/>
            <a:ext cx="2670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dirty="0">
                <a:solidFill>
                  <a:srgbClr val="00B050"/>
                </a:solidFill>
              </a:rPr>
              <a:t>https://www.netlify.com/</a:t>
            </a:r>
          </a:p>
        </p:txBody>
      </p:sp>
    </p:spTree>
    <p:extLst>
      <p:ext uri="{BB962C8B-B14F-4D97-AF65-F5344CB8AC3E}">
        <p14:creationId xmlns:p14="http://schemas.microsoft.com/office/powerpoint/2010/main" val="3571253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626" y="881201"/>
            <a:ext cx="6362096" cy="271439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3583" y="3051109"/>
            <a:ext cx="6493293" cy="367036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4820" y="4530119"/>
            <a:ext cx="46748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dirty="0"/>
              <a:t>https://friends-snake-pwa-chatgpt.netlify.app/</a:t>
            </a:r>
          </a:p>
        </p:txBody>
      </p:sp>
      <p:sp>
        <p:nvSpPr>
          <p:cNvPr id="8" name="Oval 7"/>
          <p:cNvSpPr/>
          <p:nvPr/>
        </p:nvSpPr>
        <p:spPr>
          <a:xfrm>
            <a:off x="4644041" y="269392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  <a:endParaRPr lang="en-IN" sz="4000" b="1" dirty="0"/>
          </a:p>
        </p:txBody>
      </p:sp>
      <p:sp>
        <p:nvSpPr>
          <p:cNvPr id="9" name="Oval 8"/>
          <p:cNvSpPr/>
          <p:nvPr/>
        </p:nvSpPr>
        <p:spPr>
          <a:xfrm>
            <a:off x="1401812" y="1993963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6</a:t>
            </a:r>
            <a:endParaRPr lang="en-IN" sz="40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2075" y="89747"/>
            <a:ext cx="7019925" cy="1209675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536183" y="3910756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7</a:t>
            </a:r>
            <a:endParaRPr lang="en-IN" sz="4000" b="1" dirty="0"/>
          </a:p>
        </p:txBody>
      </p:sp>
    </p:spTree>
    <p:extLst>
      <p:ext uri="{BB962C8B-B14F-4D97-AF65-F5344CB8AC3E}">
        <p14:creationId xmlns:p14="http://schemas.microsoft.com/office/powerpoint/2010/main" val="36499757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6674" y="2099482"/>
            <a:ext cx="5384980" cy="436235"/>
          </a:xfrm>
        </p:spPr>
        <p:txBody>
          <a:bodyPr>
            <a:normAutofit/>
          </a:bodyPr>
          <a:lstStyle/>
          <a:p>
            <a:r>
              <a:rPr lang="en-US" sz="2400" b="1" dirty="0" smtClean="0">
                <a:latin typeface="Bahnschrift" panose="020B0502040204020203" pitchFamily="34" charset="0"/>
              </a:rPr>
              <a:t>Mohan Sundaram Blogger &amp; Links</a:t>
            </a:r>
            <a:endParaRPr lang="en-IN" sz="2400" b="1" dirty="0">
              <a:latin typeface="Bahnschrift" panose="020B0502040204020203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77237" y="6034378"/>
            <a:ext cx="4114800" cy="365125"/>
          </a:xfrm>
        </p:spPr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5952" y="5083297"/>
            <a:ext cx="2383262" cy="6841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52502" y="5171558"/>
            <a:ext cx="34591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hlinkClick r:id="rId3"/>
              </a:rPr>
              <a:t>https://mohan4295.blogspot.com/</a:t>
            </a:r>
            <a:endParaRPr lang="en-IN" dirty="0"/>
          </a:p>
        </p:txBody>
      </p:sp>
      <p:sp>
        <p:nvSpPr>
          <p:cNvPr id="9" name="Rectangle 8"/>
          <p:cNvSpPr/>
          <p:nvPr/>
        </p:nvSpPr>
        <p:spPr>
          <a:xfrm>
            <a:off x="8357608" y="4110117"/>
            <a:ext cx="36550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hlinkClick r:id="rId4"/>
              </a:rPr>
              <a:t>https://github.com/mohan4295work</a:t>
            </a:r>
            <a:endParaRPr lang="en-IN" dirty="0"/>
          </a:p>
        </p:txBody>
      </p:sp>
      <p:sp>
        <p:nvSpPr>
          <p:cNvPr id="10" name="Rectangle 9"/>
          <p:cNvSpPr/>
          <p:nvPr/>
        </p:nvSpPr>
        <p:spPr>
          <a:xfrm>
            <a:off x="8397684" y="3099889"/>
            <a:ext cx="35748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hlinkClick r:id="rId5"/>
              </a:rPr>
              <a:t>https://gitlab.com/mohan4295work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04119" y="2909889"/>
            <a:ext cx="2495238" cy="704762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89013" y="3903907"/>
            <a:ext cx="2600201" cy="828923"/>
          </a:xfrm>
          <a:prstGeom prst="rect">
            <a:avLst/>
          </a:prstGeom>
        </p:spPr>
      </p:pic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451835" y="2142699"/>
            <a:ext cx="4581723" cy="3398191"/>
          </a:xfrm>
        </p:spPr>
        <p:txBody>
          <a:bodyPr/>
          <a:lstStyle/>
          <a:p>
            <a:r>
              <a:rPr lang="en-IN" dirty="0" smtClean="0">
                <a:hlinkClick r:id="rId8"/>
              </a:rPr>
              <a:t>https</a:t>
            </a:r>
            <a:r>
              <a:rPr lang="en-IN" dirty="0">
                <a:hlinkClick r:id="rId8"/>
              </a:rPr>
              <a:t>://chatgpt.com</a:t>
            </a:r>
            <a:r>
              <a:rPr lang="en-IN" dirty="0" smtClean="0">
                <a:hlinkClick r:id="rId8"/>
              </a:rPr>
              <a:t>/</a:t>
            </a:r>
            <a:endParaRPr lang="en-IN" dirty="0" smtClean="0"/>
          </a:p>
          <a:p>
            <a:r>
              <a:rPr lang="en-US" dirty="0">
                <a:hlinkClick r:id="rId9"/>
              </a:rPr>
              <a:t>https://</a:t>
            </a:r>
            <a:r>
              <a:rPr lang="en-US" dirty="0" smtClean="0">
                <a:hlinkClick r:id="rId9"/>
              </a:rPr>
              <a:t>claude.ai/</a:t>
            </a:r>
            <a:endParaRPr lang="en-US" dirty="0" smtClean="0"/>
          </a:p>
          <a:p>
            <a:r>
              <a:rPr lang="en-US" dirty="0">
                <a:hlinkClick r:id="rId10"/>
              </a:rPr>
              <a:t>https://</a:t>
            </a:r>
            <a:r>
              <a:rPr lang="en-US" dirty="0" smtClean="0">
                <a:hlinkClick r:id="rId10"/>
              </a:rPr>
              <a:t>gemini.google.com/</a:t>
            </a:r>
            <a:endParaRPr lang="en-US" dirty="0" smtClean="0"/>
          </a:p>
          <a:p>
            <a:r>
              <a:rPr lang="en-US" dirty="0">
                <a:hlinkClick r:id="rId11"/>
              </a:rPr>
              <a:t>https://chat.deepseek.com</a:t>
            </a:r>
            <a:r>
              <a:rPr lang="en-US" dirty="0" smtClean="0">
                <a:hlinkClick r:id="rId11"/>
              </a:rPr>
              <a:t>/</a:t>
            </a:r>
            <a:endParaRPr lang="en-US" dirty="0" smtClean="0"/>
          </a:p>
          <a:p>
            <a:r>
              <a:rPr lang="en-US" dirty="0">
                <a:hlinkClick r:id="rId12"/>
              </a:rPr>
              <a:t>https://webenoid.com</a:t>
            </a:r>
            <a:r>
              <a:rPr lang="en-US" dirty="0" smtClean="0">
                <a:hlinkClick r:id="rId12"/>
              </a:rPr>
              <a:t>/</a:t>
            </a:r>
            <a:endParaRPr lang="en-US" dirty="0" smtClean="0"/>
          </a:p>
          <a:p>
            <a:r>
              <a:rPr lang="en-US" dirty="0">
                <a:hlinkClick r:id="rId13"/>
              </a:rPr>
              <a:t>https://www.netlify.com</a:t>
            </a:r>
            <a:r>
              <a:rPr lang="en-US" dirty="0" smtClean="0">
                <a:hlinkClick r:id="rId13"/>
              </a:rPr>
              <a:t>/</a:t>
            </a:r>
            <a:endParaRPr lang="en-US" dirty="0" smtClean="0"/>
          </a:p>
          <a:p>
            <a:endParaRPr lang="en-US" dirty="0"/>
          </a:p>
        </p:txBody>
      </p:sp>
      <p:sp>
        <p:nvSpPr>
          <p:cNvPr id="14" name="Title 1"/>
          <p:cNvSpPr txBox="1">
            <a:spLocks/>
          </p:cNvSpPr>
          <p:nvPr/>
        </p:nvSpPr>
        <p:spPr>
          <a:xfrm>
            <a:off x="451834" y="1434325"/>
            <a:ext cx="5454117" cy="3432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 smtClean="0">
                <a:latin typeface="Arial Black" panose="020B0A04020102020204" pitchFamily="34" charset="0"/>
              </a:rPr>
              <a:t>Gen AI &amp; Open Source Tools</a:t>
            </a:r>
            <a:endParaRPr lang="en-IN" sz="2400" b="1" dirty="0">
              <a:latin typeface="Arial Black" panose="020B0A040201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99905" y="549443"/>
            <a:ext cx="105459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/>
              <a:t>Documents Download </a:t>
            </a:r>
            <a:r>
              <a:rPr lang="en-US" dirty="0" smtClean="0">
                <a:sym typeface="Wingdings" panose="05000000000000000000" pitchFamily="2" charset="2"/>
              </a:rPr>
              <a:t></a:t>
            </a:r>
            <a:r>
              <a:rPr lang="en-IN" dirty="0" smtClean="0"/>
              <a:t> </a:t>
            </a:r>
            <a:r>
              <a:rPr lang="en-IN" b="1" dirty="0" smtClean="0">
                <a:solidFill>
                  <a:srgbClr val="0000FF"/>
                </a:solidFill>
              </a:rPr>
              <a:t>https</a:t>
            </a:r>
            <a:r>
              <a:rPr lang="en-IN" b="1" dirty="0">
                <a:solidFill>
                  <a:srgbClr val="0000FF"/>
                </a:solidFill>
              </a:rPr>
              <a:t>://github.com/mohan4295work/Doc/blob/main/Artificial%20Intelligence.pdf</a:t>
            </a:r>
          </a:p>
        </p:txBody>
      </p:sp>
    </p:spTree>
    <p:extLst>
      <p:ext uri="{BB962C8B-B14F-4D97-AF65-F5344CB8AC3E}">
        <p14:creationId xmlns:p14="http://schemas.microsoft.com/office/powerpoint/2010/main" val="2979016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559</TotalTime>
  <Words>603</Words>
  <Application>Microsoft Office PowerPoint</Application>
  <PresentationFormat>Widescreen</PresentationFormat>
  <Paragraphs>111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Arial Black</vt:lpstr>
      <vt:lpstr>Arial Narrow</vt:lpstr>
      <vt:lpstr>Bahnschrift</vt:lpstr>
      <vt:lpstr>Calibri</vt:lpstr>
      <vt:lpstr>Calibri Light</vt:lpstr>
      <vt:lpstr>Wingdings</vt:lpstr>
      <vt:lpstr>Office Theme</vt:lpstr>
      <vt:lpstr>PowerPoint Presentation</vt:lpstr>
      <vt:lpstr>AI (Artificial Intelligence) </vt:lpstr>
      <vt:lpstr>PowerPoint Presentation</vt:lpstr>
      <vt:lpstr>LLM = Large Language Model</vt:lpstr>
      <vt:lpstr>PowerPoint Presentation</vt:lpstr>
      <vt:lpstr>RAG = Retrieval Augmented Generation</vt:lpstr>
      <vt:lpstr>PowerPoint Presentation</vt:lpstr>
      <vt:lpstr>MCP - Model Context Protocol</vt:lpstr>
      <vt:lpstr>MCP – Example </vt:lpstr>
      <vt:lpstr>PowerPoint Presentation</vt:lpstr>
      <vt:lpstr>PowerPoint Presentation</vt:lpstr>
      <vt:lpstr>PowerPoint Presentation</vt:lpstr>
      <vt:lpstr>Mohan Sundaram Blogger &amp; Links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(Artificial Intelligence)</dc:title>
  <dc:creator>Microsoft account</dc:creator>
  <cp:lastModifiedBy>Microsoft account</cp:lastModifiedBy>
  <cp:revision>74</cp:revision>
  <dcterms:created xsi:type="dcterms:W3CDTF">2025-10-04T03:05:42Z</dcterms:created>
  <dcterms:modified xsi:type="dcterms:W3CDTF">2025-11-08T09:22:10Z</dcterms:modified>
</cp:coreProperties>
</file>