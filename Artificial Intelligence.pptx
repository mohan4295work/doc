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69" r:id="rId2"/>
    <p:sldId id="256" r:id="rId3"/>
    <p:sldId id="260" r:id="rId4"/>
    <p:sldId id="264" r:id="rId5"/>
    <p:sldId id="257" r:id="rId6"/>
    <p:sldId id="258" r:id="rId7"/>
    <p:sldId id="266" r:id="rId8"/>
    <p:sldId id="259" r:id="rId9"/>
    <p:sldId id="267" r:id="rId10"/>
    <p:sldId id="268" r:id="rId11"/>
    <p:sldId id="270" r:id="rId12"/>
    <p:sldId id="271" r:id="rId13"/>
    <p:sldId id="273" r:id="rId14"/>
    <p:sldId id="274" r:id="rId15"/>
    <p:sldId id="262" r:id="rId16"/>
    <p:sldId id="272" r:id="rId17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7CAC5B4D-D46A-47A1-BA45-86DCA06F1CFF}" type="datetimeFigureOut">
              <a:rPr lang="en-IN" smtClean="0"/>
              <a:t>18-11-2025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288231B-6461-4DCC-9DAA-06A6EEABA9E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9674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09963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88231B-6461-4DCC-9DAA-06A6EEABA9ED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03831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E1A95E-4C0E-47C3-99BA-4CA280822285}" type="datetime1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21511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C28E5-488F-490F-92C5-2205B56F743F}" type="datetime1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829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CF267-1B02-4817-9A65-5E382C0CA52E}" type="datetime1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0916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42334F-054E-44BC-9297-4325A99C352D}" type="datetime1">
              <a:rPr lang="en-IN" smtClean="0"/>
              <a:t>18-11-2025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662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4679C-8653-4994-9C00-354861EF59DB}" type="datetime1">
              <a:rPr lang="en-IN" smtClean="0"/>
              <a:t>18-11-2025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4678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C4BB-31C2-4257-B5C2-9EABF3317294}" type="datetime1">
              <a:rPr lang="en-IN" smtClean="0"/>
              <a:t>18-11-2025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4877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46222-1245-48E1-AA51-5ABA1BFC0F44}" type="datetime1">
              <a:rPr lang="en-IN" smtClean="0"/>
              <a:t>18-11-2025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8638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C3BA-99EE-4821-8D0A-E1D319BDFECC}" type="datetime1">
              <a:rPr lang="en-IN" smtClean="0"/>
              <a:t>18-11-2025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826300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C996A-B179-4052-B159-145F03CD1C19}" type="datetime1">
              <a:rPr lang="en-IN" smtClean="0"/>
              <a:t>18-11-2025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365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4BC1E-7EA4-4308-9013-A358519E8BD2}" type="datetime1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25371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9D21A-723A-45B5-A6B6-78A78CE57540}" type="datetime1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8318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C6AE37-3E25-445F-9A60-35C9D0284302}" type="datetime1">
              <a:rPr lang="en-IN" smtClean="0"/>
              <a:t>18-11-2025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14CF07-F424-4E5B-8761-DECDD8F185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9097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app.netlify.com/teams/mohan4295work/project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fortune.com/2025/08/18/mit-report-95-percent-generative-ai-pilots-at-companies-failing-cfo/" TargetMode="External"/><Relationship Id="rId2" Type="http://schemas.openxmlformats.org/officeDocument/2006/relationships/hyperlink" Target="https://www.derekthompson.org/p/this-is-how-the-ai-bubble-will-po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chatgpt.com/" TargetMode="External"/><Relationship Id="rId13" Type="http://schemas.openxmlformats.org/officeDocument/2006/relationships/hyperlink" Target="https://www.netlify.com/" TargetMode="External"/><Relationship Id="rId3" Type="http://schemas.openxmlformats.org/officeDocument/2006/relationships/hyperlink" Target="https://mohan4295.blogspot.com/" TargetMode="External"/><Relationship Id="rId7" Type="http://schemas.openxmlformats.org/officeDocument/2006/relationships/image" Target="../media/image31.png"/><Relationship Id="rId12" Type="http://schemas.openxmlformats.org/officeDocument/2006/relationships/hyperlink" Target="https://webenoid.com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hyperlink" Target="https://chat.deepseek.com/" TargetMode="External"/><Relationship Id="rId5" Type="http://schemas.openxmlformats.org/officeDocument/2006/relationships/hyperlink" Target="https://gitlab.com/mohan4295work" TargetMode="External"/><Relationship Id="rId10" Type="http://schemas.openxmlformats.org/officeDocument/2006/relationships/hyperlink" Target="https://gemini.google.com/" TargetMode="External"/><Relationship Id="rId4" Type="http://schemas.openxmlformats.org/officeDocument/2006/relationships/hyperlink" Target="https://github.com/mohan4295work" TargetMode="External"/><Relationship Id="rId9" Type="http://schemas.openxmlformats.org/officeDocument/2006/relationships/hyperlink" Target="https://claude.ai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O2gerCxEXvc" TargetMode="External"/><Relationship Id="rId2" Type="http://schemas.openxmlformats.org/officeDocument/2006/relationships/hyperlink" Target="https://youtu.be/D1eL1EnxXXQ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OJKPrJ0wNvc" TargetMode="External"/><Relationship Id="rId4" Type="http://schemas.openxmlformats.org/officeDocument/2006/relationships/hyperlink" Target="https://youtu.be/df4onYIfTw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1026" name="Picture 2" descr="Warning Images - Free Download on Freepik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869" y="23519"/>
            <a:ext cx="1158584" cy="1158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926205" y="1182103"/>
            <a:ext cx="994356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2400" b="1" dirty="0"/>
              <a:t>AI Tools Usage Policy – Email </a:t>
            </a:r>
            <a:r>
              <a:rPr lang="en-IN" sz="2400" b="1" dirty="0" smtClean="0"/>
              <a:t>Guidelines:</a:t>
            </a:r>
          </a:p>
          <a:p>
            <a:pPr algn="just"/>
            <a:endParaRPr lang="en-IN" sz="2400" b="1" dirty="0"/>
          </a:p>
          <a:p>
            <a:pPr algn="just"/>
            <a:r>
              <a:rPr lang="en-IN" sz="2400" dirty="0"/>
              <a:t>To ensure data privacy and maintain professional boundaries during AI tool experimentation:</a:t>
            </a:r>
          </a:p>
          <a:p>
            <a:pPr algn="just"/>
            <a:endParaRPr lang="en-IN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400" b="1" dirty="0"/>
              <a:t>Do not use personal or finance-linked email IDs </a:t>
            </a:r>
            <a:r>
              <a:rPr lang="en-IN" sz="2400" dirty="0"/>
              <a:t>when testing or evaluating AI tools.</a:t>
            </a:r>
          </a:p>
          <a:p>
            <a:pPr algn="just"/>
            <a:endParaRPr lang="en-IN" sz="2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IN" sz="2400" b="1" dirty="0"/>
              <a:t>Create a separate, dedicated email account </a:t>
            </a:r>
            <a:r>
              <a:rPr lang="en-IN" sz="2400" dirty="0"/>
              <a:t>specifically for learning, testing, and development purposes.</a:t>
            </a:r>
          </a:p>
          <a:p>
            <a:pPr algn="just"/>
            <a:endParaRPr lang="en-IN" sz="2400" dirty="0"/>
          </a:p>
          <a:p>
            <a:pPr algn="just"/>
            <a:r>
              <a:rPr lang="en-IN" sz="2400" dirty="0">
                <a:latin typeface="Arial" panose="020B0604020202020204" pitchFamily="34" charset="0"/>
                <a:cs typeface="Arial" panose="020B0604020202020204" pitchFamily="34" charset="0"/>
              </a:rPr>
              <a:t>This practice helps safeguard sensitive information and ensures a clean separation between personal data and experimental workflows.</a:t>
            </a:r>
          </a:p>
        </p:txBody>
      </p:sp>
    </p:spTree>
    <p:extLst>
      <p:ext uri="{BB962C8B-B14F-4D97-AF65-F5344CB8AC3E}">
        <p14:creationId xmlns:p14="http://schemas.microsoft.com/office/powerpoint/2010/main" val="16055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62264" y="99463"/>
            <a:ext cx="5237409" cy="637974"/>
          </a:xfrm>
        </p:spPr>
        <p:txBody>
          <a:bodyPr>
            <a:noAutofit/>
          </a:bodyPr>
          <a:lstStyle/>
          <a:p>
            <a:r>
              <a:rPr lang="en-IN" sz="4000" b="1" dirty="0" smtClean="0">
                <a:solidFill>
                  <a:srgbClr val="C00000"/>
                </a:solidFill>
              </a:rPr>
              <a:t>AI (Artificial Intelligence)</a:t>
            </a:r>
            <a:r>
              <a:rPr lang="en-IN" sz="4000" dirty="0" smtClean="0">
                <a:solidFill>
                  <a:srgbClr val="C00000"/>
                </a:solidFill>
              </a:rPr>
              <a:t> </a:t>
            </a:r>
            <a:endParaRPr lang="en-IN" sz="4000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58828" y="805400"/>
            <a:ext cx="11444282" cy="1479242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b="1" dirty="0" smtClean="0"/>
              <a:t>Artificial Intelligence (AI)</a:t>
            </a:r>
            <a:r>
              <a:rPr lang="en-US" dirty="0" smtClean="0"/>
              <a:t> - </a:t>
            </a:r>
            <a:r>
              <a:rPr lang="en-US" dirty="0"/>
              <a:t>Machines can think, learn, and make decisions like humans. They can see, understand, and solve problems on their own</a:t>
            </a:r>
            <a:r>
              <a:rPr lang="en-US" dirty="0" smtClean="0"/>
              <a:t>.</a:t>
            </a:r>
          </a:p>
          <a:p>
            <a:pPr algn="just"/>
            <a:r>
              <a:rPr lang="en-US" b="1" dirty="0" smtClean="0"/>
              <a:t>Ai </a:t>
            </a:r>
            <a:r>
              <a:rPr lang="en-US" dirty="0" smtClean="0"/>
              <a:t>performs </a:t>
            </a:r>
            <a:r>
              <a:rPr lang="en-US" dirty="0"/>
              <a:t>tasks similar to human </a:t>
            </a:r>
            <a:r>
              <a:rPr lang="en-US" dirty="0" smtClean="0"/>
              <a:t>intelligence. It </a:t>
            </a:r>
            <a:r>
              <a:rPr lang="en-US" dirty="0"/>
              <a:t>can recognize patterns, understand speech, and </a:t>
            </a:r>
            <a:r>
              <a:rPr lang="en-US" dirty="0" smtClean="0"/>
              <a:t>Analyze/identify </a:t>
            </a:r>
            <a:r>
              <a:rPr lang="en-US" dirty="0"/>
              <a:t>images</a:t>
            </a:r>
            <a:r>
              <a:rPr lang="en-US" dirty="0" smtClean="0"/>
              <a:t>.</a:t>
            </a:r>
            <a:endParaRPr lang="en-US" dirty="0"/>
          </a:p>
          <a:p>
            <a:pPr algn="l"/>
            <a:endParaRPr lang="en-US" dirty="0" smtClean="0"/>
          </a:p>
          <a:p>
            <a:pPr algn="l"/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41668" y="6356350"/>
            <a:ext cx="11861442" cy="365125"/>
          </a:xfrm>
        </p:spPr>
        <p:txBody>
          <a:bodyPr/>
          <a:lstStyle/>
          <a:p>
            <a:pPr algn="l"/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28" y="2730322"/>
            <a:ext cx="4534033" cy="3412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598017" y="3494319"/>
            <a:ext cx="6096000" cy="1046440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200" b="1" dirty="0"/>
              <a:t>Machine learning (ML) </a:t>
            </a:r>
            <a:r>
              <a:rPr lang="en-US" sz="2000" dirty="0"/>
              <a:t>is a </a:t>
            </a:r>
            <a:r>
              <a:rPr lang="en-IN" sz="2000" dirty="0"/>
              <a:t>Sub </a:t>
            </a:r>
            <a:r>
              <a:rPr lang="en-IN" sz="2000" dirty="0" smtClean="0"/>
              <a:t>domain of </a:t>
            </a:r>
            <a:r>
              <a:rPr lang="en-US" sz="2000" dirty="0" smtClean="0"/>
              <a:t>artificial </a:t>
            </a:r>
            <a:r>
              <a:rPr lang="en-US" sz="2000" dirty="0"/>
              <a:t>intelligence (AI). </a:t>
            </a:r>
            <a:r>
              <a:rPr lang="en-US" sz="2000" dirty="0"/>
              <a:t>It teaches computers to learn patterns from data and make decisions using those patterns.</a:t>
            </a:r>
            <a:endParaRPr lang="en-IN" sz="2000" dirty="0"/>
          </a:p>
        </p:txBody>
      </p:sp>
      <p:sp>
        <p:nvSpPr>
          <p:cNvPr id="7" name="Rectangle 6"/>
          <p:cNvSpPr/>
          <p:nvPr/>
        </p:nvSpPr>
        <p:spPr>
          <a:xfrm>
            <a:off x="5598017" y="4678985"/>
            <a:ext cx="6096000" cy="166199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200" b="1" dirty="0"/>
              <a:t>Deep learning (DL) </a:t>
            </a:r>
            <a:r>
              <a:rPr lang="en-US" sz="2000" dirty="0"/>
              <a:t>is a </a:t>
            </a:r>
            <a:r>
              <a:rPr lang="en-IN" sz="2000" dirty="0"/>
              <a:t>Sub domain of </a:t>
            </a:r>
            <a:r>
              <a:rPr lang="en-US" sz="2000" dirty="0" smtClean="0"/>
              <a:t>of </a:t>
            </a:r>
            <a:r>
              <a:rPr lang="en-IN" sz="2000" dirty="0"/>
              <a:t>Machine learning (ML</a:t>
            </a:r>
            <a:r>
              <a:rPr lang="en-IN" sz="2000" dirty="0" smtClean="0"/>
              <a:t>). </a:t>
            </a:r>
            <a:r>
              <a:rPr lang="en-US" sz="2000" dirty="0" smtClean="0"/>
              <a:t>It </a:t>
            </a:r>
            <a:r>
              <a:rPr lang="en-US" sz="2000" dirty="0"/>
              <a:t>uses computer models called </a:t>
            </a:r>
            <a:r>
              <a:rPr lang="en-US" sz="2000" b="1" dirty="0"/>
              <a:t>neural networks to learn from large amounts of data </a:t>
            </a:r>
            <a:r>
              <a:rPr lang="en-US" sz="2000" dirty="0"/>
              <a:t>and make smart decisions</a:t>
            </a:r>
            <a:r>
              <a:rPr lang="en-US" sz="2000" dirty="0" smtClean="0"/>
              <a:t>. </a:t>
            </a:r>
            <a:r>
              <a:rPr lang="en-US" sz="2000" b="1" dirty="0"/>
              <a:t>(DL) is primarily used for processing unstructured </a:t>
            </a:r>
            <a:r>
              <a:rPr lang="en-US" sz="2000" b="1" dirty="0" smtClean="0"/>
              <a:t>data </a:t>
            </a:r>
            <a:r>
              <a:rPr lang="en-US" sz="2000" dirty="0"/>
              <a:t>such as images, audio, and </a:t>
            </a:r>
            <a:r>
              <a:rPr lang="en-US" sz="2000" dirty="0" err="1" smtClean="0"/>
              <a:t>Video..Etc</a:t>
            </a:r>
            <a:r>
              <a:rPr lang="en-US" sz="2000" dirty="0" smtClean="0"/>
              <a:t>.</a:t>
            </a:r>
            <a:endParaRPr lang="en-IN" sz="2000" dirty="0"/>
          </a:p>
        </p:txBody>
      </p:sp>
      <p:sp>
        <p:nvSpPr>
          <p:cNvPr id="8" name="Rectangle 7"/>
          <p:cNvSpPr/>
          <p:nvPr/>
        </p:nvSpPr>
        <p:spPr>
          <a:xfrm>
            <a:off x="5598017" y="2339831"/>
            <a:ext cx="6096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pPr algn="just"/>
            <a:r>
              <a:rPr lang="en-US" sz="2000" b="1" dirty="0"/>
              <a:t>AI </a:t>
            </a:r>
            <a:r>
              <a:rPr lang="en-US" sz="2000" dirty="0"/>
              <a:t>can work without </a:t>
            </a:r>
            <a:r>
              <a:rPr lang="en-US" sz="2000" b="1" dirty="0" smtClean="0"/>
              <a:t>ML</a:t>
            </a:r>
            <a:r>
              <a:rPr lang="en-US" sz="2000" dirty="0"/>
              <a:t> </a:t>
            </a:r>
            <a:r>
              <a:rPr lang="en-US" sz="2000" dirty="0" smtClean="0"/>
              <a:t>/ </a:t>
            </a:r>
            <a:r>
              <a:rPr lang="en-US" sz="2000" b="1" dirty="0" smtClean="0"/>
              <a:t>DL</a:t>
            </a:r>
            <a:r>
              <a:rPr lang="en-US" sz="2000" dirty="0" smtClean="0"/>
              <a:t> </a:t>
            </a:r>
            <a:r>
              <a:rPr lang="en-US" sz="2000" dirty="0"/>
              <a:t>by using methods like rule-based systems, robotics control, and fuzzy logic to make decisions and solve problems.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8581295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8387" y="120316"/>
            <a:ext cx="3540617" cy="51063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LLM = Large Language Model</a:t>
            </a:r>
            <a:endParaRPr lang="en-IN" sz="2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563" y="2228046"/>
            <a:ext cx="11455926" cy="44693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8387" y="764885"/>
            <a:ext cx="1128169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b="1" dirty="0" smtClean="0"/>
              <a:t>LLM</a:t>
            </a:r>
            <a:r>
              <a:rPr lang="en-IN" dirty="0" smtClean="0"/>
              <a:t> stands for Large Language Model, a type of artificial intelligence trained on vast amounts of text data to understand, process, and generate human-like text. These models use </a:t>
            </a:r>
            <a:r>
              <a:rPr lang="en-IN" b="1" dirty="0" smtClean="0"/>
              <a:t>transformer</a:t>
            </a:r>
            <a:r>
              <a:rPr lang="en-IN" dirty="0" smtClean="0"/>
              <a:t> architectures to learn language patterns and context, enabling them to perform tasks like text generation, translation, summarization, question-answering, and content creation</a:t>
            </a:r>
            <a:r>
              <a:rPr lang="en-IN" dirty="0"/>
              <a:t>. </a:t>
            </a:r>
            <a:r>
              <a:rPr lang="en-IN" b="1" dirty="0" smtClean="0"/>
              <a:t>ChatGPT3</a:t>
            </a:r>
            <a:r>
              <a:rPr lang="en-IN" dirty="0" smtClean="0"/>
              <a:t> raw </a:t>
            </a:r>
            <a:r>
              <a:rPr lang="en-IN" dirty="0"/>
              <a:t>dataset size</a:t>
            </a:r>
            <a:r>
              <a:rPr lang="en-IN" b="1" dirty="0"/>
              <a:t> 45 TB </a:t>
            </a:r>
            <a:r>
              <a:rPr lang="en-IN" dirty="0"/>
              <a:t>before </a:t>
            </a:r>
            <a:r>
              <a:rPr lang="en-IN" dirty="0" smtClean="0"/>
              <a:t>filtering and </a:t>
            </a:r>
            <a:r>
              <a:rPr lang="en-IN" b="1" dirty="0" smtClean="0"/>
              <a:t>1.7 - 1.8 </a:t>
            </a:r>
            <a:r>
              <a:rPr lang="en-IN" b="1" dirty="0"/>
              <a:t>trillion </a:t>
            </a:r>
            <a:r>
              <a:rPr lang="en-IN" dirty="0" smtClean="0"/>
              <a:t>parameters.</a:t>
            </a:r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9929611" y="6259133"/>
            <a:ext cx="1791235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1462049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025" y="1252580"/>
            <a:ext cx="7436922" cy="51037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27250" y="162910"/>
            <a:ext cx="3397775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b="1" dirty="0"/>
              <a:t>Ai System Types</a:t>
            </a:r>
            <a:r>
              <a:rPr lang="en-US" sz="3600" b="1" dirty="0" smtClean="0"/>
              <a:t>:</a:t>
            </a:r>
          </a:p>
          <a:p>
            <a:endParaRPr lang="en-US" sz="3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Generative AI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AI </a:t>
            </a:r>
            <a:r>
              <a:rPr lang="it-IT" sz="3200" b="1" dirty="0" smtClean="0"/>
              <a:t>Agent</a:t>
            </a:r>
            <a:endParaRPr lang="it-IT" sz="32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3200" b="1" dirty="0"/>
              <a:t>Agentic AI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150899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626543"/>
              </p:ext>
            </p:extLst>
          </p:nvPr>
        </p:nvGraphicFramePr>
        <p:xfrm>
          <a:off x="450760" y="552323"/>
          <a:ext cx="11462200" cy="29647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550"/>
                <a:gridCol w="2865550"/>
                <a:gridCol w="2865550"/>
                <a:gridCol w="2865550"/>
              </a:tblGrid>
              <a:tr h="495837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System</a:t>
                      </a:r>
                      <a:r>
                        <a:rPr lang="en-US" sz="2400" baseline="0" dirty="0" smtClean="0"/>
                        <a:t> Type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Gen Ai (LLM Only)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Ai Agent</a:t>
                      </a:r>
                      <a:endParaRPr lang="en-IN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/>
                        <a:t>Agentic Ai</a:t>
                      </a:r>
                      <a:endParaRPr lang="en-IN" sz="2400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Task Capability 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Answer based on pre Trained</a:t>
                      </a:r>
                      <a:r>
                        <a:rPr lang="en-US" baseline="0" dirty="0" smtClean="0"/>
                        <a:t> knowledge only.</a:t>
                      </a:r>
                    </a:p>
                    <a:p>
                      <a:r>
                        <a:rPr lang="en-US" baseline="0" dirty="0" smtClean="0"/>
                        <a:t>Like Text, images, audio and videos ChatGPT, Gemini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Task Input, Decide and</a:t>
                      </a:r>
                      <a:r>
                        <a:rPr lang="en-US" baseline="0" dirty="0" smtClean="0"/>
                        <a:t> Action/Completes a task using tools,Memroy,Data,api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Handle the</a:t>
                      </a:r>
                      <a:r>
                        <a:rPr lang="en-US" baseline="0" dirty="0" smtClean="0"/>
                        <a:t> multiple step with planning and co-ordination 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Tool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Extra Tool 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</a:t>
                      </a:r>
                      <a:r>
                        <a:rPr lang="en-US" baseline="0" dirty="0" smtClean="0"/>
                        <a:t> the Tools to complete the 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Uses multiple tools</a:t>
                      </a:r>
                      <a:r>
                        <a:rPr lang="en-US" baseline="0" dirty="0" smtClean="0"/>
                        <a:t> and call other AI agents.</a:t>
                      </a:r>
                      <a:endParaRPr lang="en-IN" dirty="0"/>
                    </a:p>
                  </a:txBody>
                  <a:tcPr/>
                </a:tc>
              </a:tr>
              <a:tr h="495837">
                <a:tc>
                  <a:txBody>
                    <a:bodyPr/>
                    <a:lstStyle/>
                    <a:p>
                      <a:r>
                        <a:rPr lang="en-US" sz="2000" b="1" dirty="0" smtClean="0"/>
                        <a:t>Decision</a:t>
                      </a:r>
                      <a:endParaRPr lang="en-IN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</a:t>
                      </a:r>
                      <a:r>
                        <a:rPr lang="en-US" baseline="0" dirty="0" smtClean="0"/>
                        <a:t> </a:t>
                      </a:r>
                      <a:r>
                        <a:rPr lang="en-US" dirty="0" smtClean="0"/>
                        <a:t>Decision Making </a:t>
                      </a:r>
                      <a:r>
                        <a:rPr lang="en-US" dirty="0" smtClean="0">
                          <a:sym typeface="Wingdings" panose="05000000000000000000" pitchFamily="2" charset="2"/>
                        </a:rPr>
                        <a:t>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Make Decision complete the</a:t>
                      </a:r>
                    </a:p>
                    <a:p>
                      <a:r>
                        <a:rPr lang="en-US" dirty="0" smtClean="0"/>
                        <a:t>task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Plan , Decide and</a:t>
                      </a:r>
                      <a:r>
                        <a:rPr lang="en-US" baseline="0" dirty="0" smtClean="0"/>
                        <a:t> Autonomous </a:t>
                      </a:r>
                      <a:r>
                        <a:rPr lang="en-US" dirty="0" smtClean="0"/>
                        <a:t>Decision</a:t>
                      </a:r>
                      <a:endParaRPr lang="en-IN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073" y="4606503"/>
            <a:ext cx="5604066" cy="2091182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>
          <a:xfrm>
            <a:off x="58864" y="6373143"/>
            <a:ext cx="2048091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7" name="Oval 6"/>
          <p:cNvSpPr/>
          <p:nvPr/>
        </p:nvSpPr>
        <p:spPr>
          <a:xfrm>
            <a:off x="4417454" y="90152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8" name="Oval 7"/>
          <p:cNvSpPr/>
          <p:nvPr/>
        </p:nvSpPr>
        <p:spPr>
          <a:xfrm>
            <a:off x="7441843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>
                <a:solidFill>
                  <a:srgbClr val="FF0000"/>
                </a:solidFill>
              </a:rPr>
              <a:t>2</a:t>
            </a:r>
            <a:endParaRPr lang="en-IN" sz="4000" b="1" dirty="0">
              <a:solidFill>
                <a:srgbClr val="FF0000"/>
              </a:solidFill>
            </a:endParaRPr>
          </a:p>
        </p:txBody>
      </p:sp>
      <p:sp>
        <p:nvSpPr>
          <p:cNvPr id="11" name="Oval 10"/>
          <p:cNvSpPr/>
          <p:nvPr/>
        </p:nvSpPr>
        <p:spPr>
          <a:xfrm>
            <a:off x="10205476" y="90151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59" y="3607663"/>
            <a:ext cx="4382573" cy="1657047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1169245" y="6182077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3306" y="4645992"/>
            <a:ext cx="3825190" cy="2051693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082909" y="4407146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6" name="Oval 15"/>
          <p:cNvSpPr/>
          <p:nvPr/>
        </p:nvSpPr>
        <p:spPr>
          <a:xfrm>
            <a:off x="4156698" y="6194305"/>
            <a:ext cx="521512" cy="398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>
                <a:solidFill>
                  <a:srgbClr val="FF0000"/>
                </a:solidFill>
              </a:rPr>
              <a:t>2</a:t>
            </a:r>
            <a:endParaRPr lang="en-IN" sz="4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7011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231" y="287852"/>
            <a:ext cx="4519411" cy="435651"/>
          </a:xfrm>
        </p:spPr>
        <p:txBody>
          <a:bodyPr>
            <a:noAutofit/>
          </a:bodyPr>
          <a:lstStyle/>
          <a:p>
            <a:r>
              <a:rPr lang="en-IN" sz="2000" b="1" dirty="0" smtClean="0"/>
              <a:t>RAG = Retrieval Augmented Generation</a:t>
            </a:r>
            <a:endParaRPr lang="en-IN" sz="2000" b="1" dirty="0"/>
          </a:p>
        </p:txBody>
      </p:sp>
      <p:sp>
        <p:nvSpPr>
          <p:cNvPr id="5" name="Rectangle 4"/>
          <p:cNvSpPr/>
          <p:nvPr/>
        </p:nvSpPr>
        <p:spPr>
          <a:xfrm>
            <a:off x="915455" y="865726"/>
            <a:ext cx="1094596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dirty="0" smtClean="0"/>
              <a:t>RAG is an AI framework that improves the output of large language models (LLMs) by giving them access to external or private data up-to-date knowledge bases before generating a response.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 smtClean="0"/>
              <a:t>RAG Powerful Knowledge/Documentation base retrieval.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2000" b="1" dirty="0" smtClean="0"/>
              <a:t>RAG input text and get the output improved text output</a:t>
            </a:r>
            <a:r>
              <a:rPr lang="en-US" dirty="0" smtClean="0"/>
              <a:t>.</a:t>
            </a:r>
            <a:endParaRPr lang="en-IN" dirty="0"/>
          </a:p>
        </p:txBody>
      </p:sp>
      <p:sp>
        <p:nvSpPr>
          <p:cNvPr id="6" name="AutoShape 2" descr="How-Rag-wor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060305" y="6507309"/>
            <a:ext cx="2396544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338" y="2331388"/>
            <a:ext cx="10250477" cy="415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4051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077200" y="6364342"/>
            <a:ext cx="4114800" cy="365125"/>
          </a:xfrm>
        </p:spPr>
        <p:txBody>
          <a:bodyPr/>
          <a:lstStyle/>
          <a:p>
            <a:r>
              <a:rPr lang="en-IN" b="1" dirty="0" smtClean="0"/>
              <a:t>MOHAN SUNDARAM</a:t>
            </a:r>
            <a:endParaRPr lang="en-IN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35" y="377553"/>
            <a:ext cx="10163713" cy="608705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081" y="2099258"/>
            <a:ext cx="1063920" cy="106392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3969" y="5300422"/>
            <a:ext cx="1063920" cy="106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869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9903" y="130885"/>
            <a:ext cx="4219979" cy="433365"/>
          </a:xfrm>
        </p:spPr>
        <p:txBody>
          <a:bodyPr>
            <a:noAutofit/>
          </a:bodyPr>
          <a:lstStyle/>
          <a:p>
            <a:r>
              <a:rPr lang="en-US" sz="2400" b="1" dirty="0" smtClean="0"/>
              <a:t>MCP - Model Context Protocol</a:t>
            </a:r>
            <a:endParaRPr lang="en-IN" sz="2400" b="1" dirty="0"/>
          </a:p>
        </p:txBody>
      </p:sp>
      <p:sp>
        <p:nvSpPr>
          <p:cNvPr id="4" name="Rectangle 3"/>
          <p:cNvSpPr/>
          <p:nvPr/>
        </p:nvSpPr>
        <p:spPr>
          <a:xfrm>
            <a:off x="740534" y="564250"/>
            <a:ext cx="10710931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Open-source framework that allows large language models (LLMs) to securely and standardized interact with external data sources and tools </a:t>
            </a:r>
            <a:r>
              <a:rPr lang="en-US" sz="2000" dirty="0" smtClean="0"/>
              <a:t>API, application,databases..</a:t>
            </a:r>
            <a:r>
              <a:rPr lang="en-US" sz="2000" dirty="0" err="1"/>
              <a:t>etc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 smtClean="0"/>
              <a:t>MCP input text and get the output improved text and </a:t>
            </a:r>
            <a:r>
              <a:rPr lang="en-US" sz="2000" b="1" dirty="0" smtClean="0"/>
              <a:t>action</a:t>
            </a:r>
            <a:r>
              <a:rPr lang="en-US" sz="2000" dirty="0" smtClean="0"/>
              <a:t> output.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smtClean="0"/>
              <a:t>RAG and MCP combined integration tools more powerful.</a:t>
            </a:r>
            <a:endParaRPr lang="en-US" b="1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436" y="2692306"/>
            <a:ext cx="7557081" cy="3943223"/>
          </a:xfrm>
          <a:prstGeom prst="rect">
            <a:avLst/>
          </a:prstGeom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72428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-1169479" y="6469637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1421101" y="468327"/>
            <a:ext cx="35543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https://www.claude.com/download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468" y="837659"/>
            <a:ext cx="4471652" cy="201632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894" y="837659"/>
            <a:ext cx="4307314" cy="2031188"/>
          </a:xfrm>
          <a:prstGeom prst="rect">
            <a:avLst/>
          </a:prstGeom>
        </p:spPr>
      </p:pic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4992709" y="92814"/>
            <a:ext cx="2206581" cy="433365"/>
          </a:xfrm>
        </p:spPr>
        <p:txBody>
          <a:bodyPr>
            <a:noAutofit/>
          </a:bodyPr>
          <a:lstStyle/>
          <a:p>
            <a:r>
              <a:rPr lang="en-US" sz="2400" b="1" dirty="0" smtClean="0">
                <a:solidFill>
                  <a:srgbClr val="0000FF"/>
                </a:solidFill>
              </a:rPr>
              <a:t>MCP – Example </a:t>
            </a:r>
            <a:endParaRPr lang="en-IN" sz="2400" b="1" dirty="0">
              <a:solidFill>
                <a:srgbClr val="0000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150" y="2941650"/>
            <a:ext cx="6299847" cy="372188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2640" y="2919721"/>
            <a:ext cx="3051228" cy="160676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2640" y="4683851"/>
            <a:ext cx="3214755" cy="168897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51677" y="113387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7" name="Oval 16"/>
          <p:cNvSpPr/>
          <p:nvPr/>
        </p:nvSpPr>
        <p:spPr>
          <a:xfrm>
            <a:off x="8116057" y="27599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2</a:t>
            </a:r>
            <a:endParaRPr lang="en-IN" sz="4000" b="1" dirty="0"/>
          </a:p>
        </p:txBody>
      </p:sp>
      <p:sp>
        <p:nvSpPr>
          <p:cNvPr id="18" name="Oval 17"/>
          <p:cNvSpPr/>
          <p:nvPr/>
        </p:nvSpPr>
        <p:spPr>
          <a:xfrm>
            <a:off x="887921" y="411630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3</a:t>
            </a:r>
            <a:endParaRPr lang="en-IN" sz="4000" b="1" dirty="0"/>
          </a:p>
        </p:txBody>
      </p:sp>
      <p:sp>
        <p:nvSpPr>
          <p:cNvPr id="19" name="Oval 18"/>
          <p:cNvSpPr/>
          <p:nvPr/>
        </p:nvSpPr>
        <p:spPr>
          <a:xfrm>
            <a:off x="8644091" y="323880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4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869529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987084" y="6554821"/>
            <a:ext cx="4114800" cy="365125"/>
          </a:xfrm>
        </p:spPr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34" y="3027434"/>
            <a:ext cx="3867150" cy="370994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815" y="96792"/>
            <a:ext cx="7162800" cy="49149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2666" y="90051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5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2729397" y="314511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sp>
        <p:nvSpPr>
          <p:cNvPr id="13" name="Oval 12"/>
          <p:cNvSpPr/>
          <p:nvPr/>
        </p:nvSpPr>
        <p:spPr>
          <a:xfrm>
            <a:off x="10844011" y="174065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084" y="4135358"/>
            <a:ext cx="8024998" cy="248111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7455190" y="4286077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8</a:t>
            </a:r>
            <a:endParaRPr lang="en-IN" sz="4000" b="1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84" y="236857"/>
            <a:ext cx="4086225" cy="23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9935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6" name="TextBox 5"/>
          <p:cNvSpPr txBox="1"/>
          <p:nvPr/>
        </p:nvSpPr>
        <p:spPr>
          <a:xfrm>
            <a:off x="565397" y="180304"/>
            <a:ext cx="11089984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0000FF"/>
                </a:solidFill>
              </a:rPr>
              <a:t>AI </a:t>
            </a:r>
            <a:r>
              <a:rPr lang="en-IN" sz="2400" b="1" dirty="0" smtClean="0">
                <a:solidFill>
                  <a:srgbClr val="0000FF"/>
                </a:solidFill>
              </a:rPr>
              <a:t>Prompt Engineering:</a:t>
            </a:r>
          </a:p>
          <a:p>
            <a:endParaRPr lang="en-US" dirty="0"/>
          </a:p>
          <a:p>
            <a:r>
              <a:rPr lang="en-US" b="1" dirty="0" smtClean="0">
                <a:solidFill>
                  <a:schemeClr val="accent2"/>
                </a:solidFill>
              </a:rPr>
              <a:t>Example</a:t>
            </a:r>
            <a:r>
              <a:rPr lang="en-US" dirty="0" smtClean="0"/>
              <a:t>: Create </a:t>
            </a:r>
            <a:r>
              <a:rPr lang="en-US" dirty="0"/>
              <a:t>a friends-themed snake game with background music, obstacles, power-ups, and speed boosts. Make it ready to deploy PWA (Manifest, Service worker, icons) and give me a zip with all the assets included.</a:t>
            </a:r>
            <a:endParaRPr lang="en-IN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08" y="1378306"/>
            <a:ext cx="8124825" cy="24193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649" y="3797656"/>
            <a:ext cx="7058025" cy="1495425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3510566" y="181569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1</a:t>
            </a:r>
            <a:endParaRPr lang="en-IN" sz="4000" b="1" dirty="0"/>
          </a:p>
        </p:txBody>
      </p:sp>
      <p:sp>
        <p:nvSpPr>
          <p:cNvPr id="11" name="Oval 10"/>
          <p:cNvSpPr/>
          <p:nvPr/>
        </p:nvSpPr>
        <p:spPr>
          <a:xfrm>
            <a:off x="3510566" y="3134030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2</a:t>
            </a:r>
            <a:endParaRPr lang="en-IN" sz="4000" b="1" dirty="0"/>
          </a:p>
        </p:txBody>
      </p:sp>
      <p:sp>
        <p:nvSpPr>
          <p:cNvPr id="12" name="Oval 11"/>
          <p:cNvSpPr/>
          <p:nvPr/>
        </p:nvSpPr>
        <p:spPr>
          <a:xfrm>
            <a:off x="1296955" y="4056503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3</a:t>
            </a:r>
            <a:endParaRPr lang="en-IN" sz="4000" b="1" dirty="0"/>
          </a:p>
        </p:txBody>
      </p:sp>
      <p:sp>
        <p:nvSpPr>
          <p:cNvPr id="13" name="Rectangle 12"/>
          <p:cNvSpPr/>
          <p:nvPr/>
        </p:nvSpPr>
        <p:spPr>
          <a:xfrm>
            <a:off x="1987062" y="5634286"/>
            <a:ext cx="72456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b="1" dirty="0">
                <a:solidFill>
                  <a:srgbClr val="0000FF"/>
                </a:solidFill>
                <a:hlinkClick r:id="rId4"/>
              </a:rPr>
              <a:t>https://</a:t>
            </a:r>
            <a:r>
              <a:rPr lang="en-IN" b="1" dirty="0" smtClean="0">
                <a:solidFill>
                  <a:srgbClr val="0000FF"/>
                </a:solidFill>
                <a:hlinkClick r:id="rId4"/>
              </a:rPr>
              <a:t>app.netlify.com/teams/mohan4295work/projects</a:t>
            </a:r>
            <a:endParaRPr lang="en-IN" b="1" dirty="0" smtClean="0">
              <a:solidFill>
                <a:srgbClr val="0000FF"/>
              </a:solidFill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4124" y="4995658"/>
            <a:ext cx="3535382" cy="1543285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1296955" y="5415652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4</a:t>
            </a:r>
            <a:endParaRPr lang="en-IN" sz="4000" b="1" dirty="0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1911" y="1472966"/>
            <a:ext cx="1219200" cy="35242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987062" y="5290753"/>
            <a:ext cx="26706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B050"/>
                </a:solidFill>
              </a:rPr>
              <a:t>https://www.netlify.com/</a:t>
            </a:r>
          </a:p>
        </p:txBody>
      </p:sp>
    </p:spTree>
    <p:extLst>
      <p:ext uri="{BB962C8B-B14F-4D97-AF65-F5344CB8AC3E}">
        <p14:creationId xmlns:p14="http://schemas.microsoft.com/office/powerpoint/2010/main" val="35712535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7" y="237014"/>
            <a:ext cx="6362096" cy="271439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502" y="3022586"/>
            <a:ext cx="6754755" cy="381815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88933" y="2599590"/>
            <a:ext cx="46748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b="1" dirty="0">
                <a:solidFill>
                  <a:srgbClr val="0000FF"/>
                </a:solidFill>
              </a:rPr>
              <a:t>https://friends-snake-pwa-chatgpt.netlify.app/</a:t>
            </a:r>
          </a:p>
        </p:txBody>
      </p:sp>
      <p:sp>
        <p:nvSpPr>
          <p:cNvPr id="9" name="Oval 8"/>
          <p:cNvSpPr/>
          <p:nvPr/>
        </p:nvSpPr>
        <p:spPr>
          <a:xfrm>
            <a:off x="1285903" y="188436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6</a:t>
            </a:r>
            <a:endParaRPr lang="en-IN" sz="4000" b="1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9690" y="0"/>
            <a:ext cx="7019925" cy="120967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086309" y="2057061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 smtClean="0"/>
              <a:t>7</a:t>
            </a:r>
            <a:endParaRPr lang="en-IN" sz="4000" b="1" dirty="0"/>
          </a:p>
        </p:txBody>
      </p:sp>
      <p:sp>
        <p:nvSpPr>
          <p:cNvPr id="10" name="Oval 9"/>
          <p:cNvSpPr/>
          <p:nvPr/>
        </p:nvSpPr>
        <p:spPr>
          <a:xfrm>
            <a:off x="8881114" y="316444"/>
            <a:ext cx="528034" cy="48886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5</a:t>
            </a:r>
            <a:endParaRPr lang="en-IN" sz="4000" b="1" dirty="0"/>
          </a:p>
        </p:txBody>
      </p:sp>
    </p:spTree>
    <p:extLst>
      <p:ext uri="{BB962C8B-B14F-4D97-AF65-F5344CB8AC3E}">
        <p14:creationId xmlns:p14="http://schemas.microsoft.com/office/powerpoint/2010/main" val="36499757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sp>
        <p:nvSpPr>
          <p:cNvPr id="5" name="Rectangle 4"/>
          <p:cNvSpPr/>
          <p:nvPr/>
        </p:nvSpPr>
        <p:spPr>
          <a:xfrm>
            <a:off x="622707" y="430197"/>
            <a:ext cx="1094658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AI as a tool to get the job done </a:t>
            </a:r>
            <a:r>
              <a:rPr lang="en-US" sz="5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better!</a:t>
            </a:r>
            <a:endParaRPr lang="en-IN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2707" y="1747012"/>
            <a:ext cx="9225566" cy="31700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4000" dirty="0">
                <a:latin typeface="Bahnschrift" panose="020B0502040204020203" pitchFamily="34" charset="0"/>
              </a:rPr>
              <a:t>Programmer Productivity</a:t>
            </a:r>
          </a:p>
          <a:p>
            <a:r>
              <a:rPr lang="en-IN" sz="4000" dirty="0" smtClean="0">
                <a:latin typeface="Bahnschrift" panose="020B0502040204020203" pitchFamily="34" charset="0"/>
              </a:rPr>
              <a:t>Testers </a:t>
            </a:r>
            <a:r>
              <a:rPr lang="en-IN" sz="4000" dirty="0">
                <a:latin typeface="Bahnschrift" panose="020B0502040204020203" pitchFamily="34" charset="0"/>
              </a:rPr>
              <a:t>Productivity</a:t>
            </a:r>
          </a:p>
          <a:p>
            <a:r>
              <a:rPr lang="en-IN" sz="4000" dirty="0">
                <a:latin typeface="Bahnschrift" panose="020B0502040204020203" pitchFamily="34" charset="0"/>
              </a:rPr>
              <a:t>UI Programming Productivity</a:t>
            </a:r>
          </a:p>
          <a:p>
            <a:r>
              <a:rPr lang="en-IN" sz="4000" dirty="0">
                <a:latin typeface="Bahnschrift" panose="020B0502040204020203" pitchFamily="34" charset="0"/>
              </a:rPr>
              <a:t>SQL Query Conversion </a:t>
            </a:r>
            <a:r>
              <a:rPr lang="en-IN" sz="4000" dirty="0" smtClean="0">
                <a:latin typeface="Bahnschrift" panose="020B0502040204020203" pitchFamily="34" charset="0"/>
              </a:rPr>
              <a:t>Productivity</a:t>
            </a:r>
          </a:p>
          <a:p>
            <a:r>
              <a:rPr lang="en-US" sz="4000" dirty="0" smtClean="0">
                <a:latin typeface="Bahnschrift" panose="020B0502040204020203" pitchFamily="34" charset="0"/>
              </a:rPr>
              <a:t>…..etc.</a:t>
            </a:r>
            <a:endParaRPr lang="en-US" sz="40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2006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620" y="30418"/>
            <a:ext cx="5511085" cy="495937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3">
                    <a:lumMod val="75000"/>
                  </a:schemeClr>
                </a:solidFill>
              </a:rPr>
              <a:t>Is the AI Bubble About to Burst</a:t>
            </a:r>
            <a:r>
              <a:rPr lang="en-US" sz="3200" b="1" dirty="0" smtClean="0">
                <a:solidFill>
                  <a:schemeClr val="accent3">
                    <a:lumMod val="75000"/>
                  </a:schemeClr>
                </a:solidFill>
              </a:rPr>
              <a:t>?</a:t>
            </a:r>
            <a:endParaRPr lang="en-IN" sz="3200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986" y="5383369"/>
            <a:ext cx="11650014" cy="1155543"/>
          </a:xfrm>
        </p:spPr>
        <p:txBody>
          <a:bodyPr/>
          <a:lstStyle/>
          <a:p>
            <a:r>
              <a:rPr lang="en-US" sz="2000" dirty="0"/>
              <a:t>Derek Thompson on AI </a:t>
            </a:r>
            <a:r>
              <a:rPr lang="en-US" sz="2000" dirty="0" smtClean="0"/>
              <a:t>bubble </a:t>
            </a:r>
            <a:r>
              <a:rPr lang="en-IN" sz="2000" dirty="0" smtClean="0">
                <a:hlinkClick r:id="rId2"/>
              </a:rPr>
              <a:t>https</a:t>
            </a:r>
            <a:r>
              <a:rPr lang="en-IN" sz="2000" dirty="0">
                <a:hlinkClick r:id="rId2"/>
              </a:rPr>
              <a:t>://</a:t>
            </a:r>
            <a:r>
              <a:rPr lang="en-IN" sz="2000" dirty="0" smtClean="0">
                <a:hlinkClick r:id="rId2"/>
              </a:rPr>
              <a:t>www.derekthompson.org/p/this-is-how-the-ai-bubble-will-pop</a:t>
            </a:r>
            <a:endParaRPr lang="en-IN" sz="2000" dirty="0" smtClean="0"/>
          </a:p>
          <a:p>
            <a:r>
              <a:rPr lang="en-IN" sz="2000" dirty="0" smtClean="0"/>
              <a:t>MIT </a:t>
            </a:r>
            <a:r>
              <a:rPr lang="en-IN" sz="2000" dirty="0"/>
              <a:t>report </a:t>
            </a:r>
            <a:r>
              <a:rPr lang="en-IN" sz="2000" dirty="0">
                <a:hlinkClick r:id="rId3"/>
              </a:rPr>
              <a:t>https://fortune.com/2025/08/18/mit-report-95-percent-generative-ai-pilots-at-companies-failing-cfo</a:t>
            </a:r>
            <a:r>
              <a:rPr lang="en-IN" sz="2000" dirty="0" smtClean="0">
                <a:hlinkClick r:id="rId3"/>
              </a:rPr>
              <a:t>/</a:t>
            </a:r>
            <a:endParaRPr lang="en-IN" sz="2000" dirty="0" smtClean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dirty="0" smtClean="0"/>
              <a:t>MOHAN SUNDARAM</a:t>
            </a:r>
            <a:endParaRPr lang="en-IN" dirty="0"/>
          </a:p>
        </p:txBody>
      </p:sp>
      <p:pic>
        <p:nvPicPr>
          <p:cNvPr id="1026" name="Picture 2" descr="https://substackcdn.com/image/fetch/$s_!Zl_k!,f_auto,q_auto:good,fl_progressive:steep/https%3A%2F%2Fsubstack-post-media.s3.amazonaws.com%2Fpublic%2Fimages%2F7aa143c1-7869-4525-9c42-cc44172de3ed_750x40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6948" y="708918"/>
            <a:ext cx="8323636" cy="446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230223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19360" y="2245901"/>
            <a:ext cx="2562718" cy="436235"/>
          </a:xfrm>
        </p:spPr>
        <p:txBody>
          <a:bodyPr>
            <a:normAutofit/>
          </a:bodyPr>
          <a:lstStyle/>
          <a:p>
            <a:r>
              <a:rPr lang="en-US" sz="2000" b="1" dirty="0" smtClean="0">
                <a:solidFill>
                  <a:srgbClr val="0000FF"/>
                </a:solidFill>
                <a:latin typeface="Bahnschrift" panose="020B0502040204020203" pitchFamily="34" charset="0"/>
              </a:rPr>
              <a:t>My Blogger </a:t>
            </a:r>
            <a:r>
              <a:rPr lang="en-US" sz="2000" b="1" dirty="0" smtClean="0">
                <a:solidFill>
                  <a:srgbClr val="0000FF"/>
                </a:solidFill>
                <a:latin typeface="Bahnschrift" panose="020B0502040204020203" pitchFamily="34" charset="0"/>
              </a:rPr>
              <a:t>&amp; Links</a:t>
            </a:r>
            <a:endParaRPr lang="en-IN" sz="2000" b="1" dirty="0">
              <a:solidFill>
                <a:srgbClr val="0000FF"/>
              </a:solidFill>
              <a:latin typeface="Bahnschrift" panose="020B0502040204020203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77237" y="6034378"/>
            <a:ext cx="4114800" cy="365125"/>
          </a:xfrm>
        </p:spPr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952" y="5083297"/>
            <a:ext cx="2383262" cy="68419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52502" y="5171558"/>
            <a:ext cx="34591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3"/>
              </a:rPr>
              <a:t>https://mohan4295.blogspot.com/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8357608" y="4110117"/>
            <a:ext cx="36550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4"/>
              </a:rPr>
              <a:t>https://github.com/mohan4295work</a:t>
            </a:r>
            <a:endParaRPr lang="en-IN" dirty="0"/>
          </a:p>
        </p:txBody>
      </p:sp>
      <p:sp>
        <p:nvSpPr>
          <p:cNvPr id="10" name="Rectangle 9"/>
          <p:cNvSpPr/>
          <p:nvPr/>
        </p:nvSpPr>
        <p:spPr>
          <a:xfrm>
            <a:off x="8397684" y="3099889"/>
            <a:ext cx="35748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hlinkClick r:id="rId5"/>
              </a:rPr>
              <a:t>https://gitlab.com/mohan4295work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4119" y="2909889"/>
            <a:ext cx="2495238" cy="704762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89013" y="3903907"/>
            <a:ext cx="2600201" cy="828923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451835" y="2142699"/>
            <a:ext cx="4581723" cy="3398191"/>
          </a:xfrm>
        </p:spPr>
        <p:txBody>
          <a:bodyPr/>
          <a:lstStyle/>
          <a:p>
            <a:r>
              <a:rPr lang="en-IN" dirty="0" smtClean="0">
                <a:hlinkClick r:id="rId8"/>
              </a:rPr>
              <a:t>https</a:t>
            </a:r>
            <a:r>
              <a:rPr lang="en-IN" dirty="0">
                <a:hlinkClick r:id="rId8"/>
              </a:rPr>
              <a:t>://chatgpt.com</a:t>
            </a:r>
            <a:r>
              <a:rPr lang="en-IN" dirty="0" smtClean="0">
                <a:hlinkClick r:id="rId8"/>
              </a:rPr>
              <a:t>/</a:t>
            </a:r>
            <a:endParaRPr lang="en-IN" dirty="0" smtClean="0"/>
          </a:p>
          <a:p>
            <a:r>
              <a:rPr lang="en-US" dirty="0">
                <a:hlinkClick r:id="rId9"/>
              </a:rPr>
              <a:t>https://</a:t>
            </a:r>
            <a:r>
              <a:rPr lang="en-US" dirty="0" smtClean="0">
                <a:hlinkClick r:id="rId9"/>
              </a:rPr>
              <a:t>claude.ai/</a:t>
            </a:r>
            <a:endParaRPr lang="en-US" dirty="0" smtClean="0"/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gemini.google.com/</a:t>
            </a:r>
            <a:endParaRPr lang="en-US" dirty="0" smtClean="0"/>
          </a:p>
          <a:p>
            <a:r>
              <a:rPr lang="en-US" dirty="0">
                <a:hlinkClick r:id="rId11"/>
              </a:rPr>
              <a:t>https://chat.deepseek.com</a:t>
            </a:r>
            <a:r>
              <a:rPr lang="en-US" dirty="0" smtClean="0">
                <a:hlinkClick r:id="rId11"/>
              </a:rPr>
              <a:t>/</a:t>
            </a:r>
            <a:endParaRPr lang="en-US" dirty="0" smtClean="0"/>
          </a:p>
          <a:p>
            <a:r>
              <a:rPr lang="en-US" dirty="0">
                <a:hlinkClick r:id="rId12"/>
              </a:rPr>
              <a:t>https://webenoid.com</a:t>
            </a:r>
            <a:r>
              <a:rPr lang="en-US" dirty="0" smtClean="0">
                <a:hlinkClick r:id="rId12"/>
              </a:rPr>
              <a:t>/</a:t>
            </a:r>
            <a:endParaRPr lang="en-US" dirty="0" smtClean="0"/>
          </a:p>
          <a:p>
            <a:r>
              <a:rPr lang="en-US" dirty="0">
                <a:hlinkClick r:id="rId13"/>
              </a:rPr>
              <a:t>https://www.netlify.com</a:t>
            </a:r>
            <a:r>
              <a:rPr lang="en-US" dirty="0" smtClean="0">
                <a:hlinkClick r:id="rId13"/>
              </a:rPr>
              <a:t>/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14" name="Title 1"/>
          <p:cNvSpPr txBox="1">
            <a:spLocks/>
          </p:cNvSpPr>
          <p:nvPr/>
        </p:nvSpPr>
        <p:spPr>
          <a:xfrm>
            <a:off x="451834" y="1434325"/>
            <a:ext cx="5454117" cy="3432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b="1" dirty="0" smtClean="0">
                <a:latin typeface="Arial Black" panose="020B0A04020102020204" pitchFamily="34" charset="0"/>
              </a:rPr>
              <a:t>Gen AI &amp; Open Source Tools</a:t>
            </a:r>
            <a:endParaRPr lang="en-IN" sz="2400" b="1" dirty="0">
              <a:latin typeface="Arial Black" panose="020B0A040201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99905" y="549443"/>
            <a:ext cx="105459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Documents Download </a:t>
            </a:r>
            <a:r>
              <a:rPr lang="en-US" dirty="0" smtClean="0">
                <a:sym typeface="Wingdings" panose="05000000000000000000" pitchFamily="2" charset="2"/>
              </a:rPr>
              <a:t></a:t>
            </a:r>
            <a:r>
              <a:rPr lang="en-IN" dirty="0" smtClean="0"/>
              <a:t> </a:t>
            </a:r>
            <a:r>
              <a:rPr lang="en-IN" b="1" dirty="0" smtClean="0">
                <a:solidFill>
                  <a:srgbClr val="0000FF"/>
                </a:solidFill>
              </a:rPr>
              <a:t>https</a:t>
            </a:r>
            <a:r>
              <a:rPr lang="en-IN" b="1" dirty="0">
                <a:solidFill>
                  <a:srgbClr val="0000FF"/>
                </a:solidFill>
              </a:rPr>
              <a:t>://github.com/mohan4295work/Doc/blob/main/Artificial%20Intelligence.pdf</a:t>
            </a:r>
          </a:p>
        </p:txBody>
      </p:sp>
    </p:spTree>
    <p:extLst>
      <p:ext uri="{BB962C8B-B14F-4D97-AF65-F5344CB8AC3E}">
        <p14:creationId xmlns:p14="http://schemas.microsoft.com/office/powerpoint/2010/main" val="2979016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23459"/>
            <a:ext cx="3025462" cy="446244"/>
          </a:xfrm>
        </p:spPr>
        <p:txBody>
          <a:bodyPr>
            <a:normAutofit/>
          </a:bodyPr>
          <a:lstStyle/>
          <a:p>
            <a:r>
              <a:rPr lang="en-US" sz="2400" b="1" dirty="0" smtClean="0">
                <a:latin typeface="Arial Black" panose="020B0A04020102020204" pitchFamily="34" charset="0"/>
              </a:rPr>
              <a:t>Reference Links</a:t>
            </a:r>
            <a:endParaRPr lang="en-IN" sz="2400" b="1" dirty="0">
              <a:latin typeface="Arial Black" panose="020B0A040201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5169" y="936983"/>
            <a:ext cx="10515600" cy="4351338"/>
          </a:xfrm>
        </p:spPr>
        <p:txBody>
          <a:bodyPr/>
          <a:lstStyle/>
          <a:p>
            <a:r>
              <a:rPr lang="en-IN" dirty="0">
                <a:hlinkClick r:id="rId2"/>
              </a:rPr>
              <a:t>https://</a:t>
            </a:r>
            <a:r>
              <a:rPr lang="en-IN" dirty="0" smtClean="0">
                <a:hlinkClick r:id="rId2"/>
              </a:rPr>
              <a:t>youtu.be/D1eL1EnxXXQ</a:t>
            </a:r>
            <a:endParaRPr lang="en-IN" dirty="0" smtClean="0"/>
          </a:p>
          <a:p>
            <a:r>
              <a:rPr lang="en-IN" dirty="0">
                <a:hlinkClick r:id="rId3"/>
              </a:rPr>
              <a:t>https://</a:t>
            </a:r>
            <a:r>
              <a:rPr lang="en-IN" dirty="0" smtClean="0">
                <a:hlinkClick r:id="rId3"/>
              </a:rPr>
              <a:t>youtu.be/O2gerCxEXvc</a:t>
            </a:r>
            <a:endParaRPr lang="en-IN" dirty="0" smtClean="0"/>
          </a:p>
          <a:p>
            <a:r>
              <a:rPr lang="en-IN" dirty="0">
                <a:hlinkClick r:id="rId4"/>
              </a:rPr>
              <a:t>https://</a:t>
            </a:r>
            <a:r>
              <a:rPr lang="en-IN" dirty="0" smtClean="0">
                <a:hlinkClick r:id="rId4"/>
              </a:rPr>
              <a:t>youtu.be/df4onYIfTwo</a:t>
            </a:r>
            <a:endParaRPr lang="en-IN" dirty="0" smtClean="0"/>
          </a:p>
          <a:p>
            <a:r>
              <a:rPr lang="en-IN" dirty="0">
                <a:hlinkClick r:id="rId5"/>
              </a:rPr>
              <a:t>https://</a:t>
            </a:r>
            <a:r>
              <a:rPr lang="en-IN" dirty="0" smtClean="0">
                <a:hlinkClick r:id="rId5"/>
              </a:rPr>
              <a:t>youtu.be/OJKPrJ0wNvc</a:t>
            </a:r>
            <a:endParaRPr lang="en-IN" dirty="0" smtClean="0"/>
          </a:p>
          <a:p>
            <a:endParaRPr lang="en-IN" dirty="0" smtClean="0"/>
          </a:p>
          <a:p>
            <a:endParaRPr lang="en-IN" dirty="0" smtClean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 smtClean="0"/>
              <a:t>MOHAN SUNDARAM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24781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1520</TotalTime>
  <Words>702</Words>
  <Application>Microsoft Office PowerPoint</Application>
  <PresentationFormat>Widescreen</PresentationFormat>
  <Paragraphs>128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Arial Black</vt:lpstr>
      <vt:lpstr>Bahnschrift</vt:lpstr>
      <vt:lpstr>Calibri</vt:lpstr>
      <vt:lpstr>Calibri Light</vt:lpstr>
      <vt:lpstr>Wingdings</vt:lpstr>
      <vt:lpstr>Office Theme</vt:lpstr>
      <vt:lpstr>PowerPoint Presentation</vt:lpstr>
      <vt:lpstr>AI (Artificial Intelligence) </vt:lpstr>
      <vt:lpstr>LLM = Large Language Model</vt:lpstr>
      <vt:lpstr>PowerPoint Presentation</vt:lpstr>
      <vt:lpstr>PowerPoint Presentation</vt:lpstr>
      <vt:lpstr>RAG = Retrieval Augmented Generation</vt:lpstr>
      <vt:lpstr>PowerPoint Presentation</vt:lpstr>
      <vt:lpstr>MCP - Model Context Protocol</vt:lpstr>
      <vt:lpstr>MCP – Example </vt:lpstr>
      <vt:lpstr>PowerPoint Presentation</vt:lpstr>
      <vt:lpstr>PowerPoint Presentation</vt:lpstr>
      <vt:lpstr>PowerPoint Presentation</vt:lpstr>
      <vt:lpstr>PowerPoint Presentation</vt:lpstr>
      <vt:lpstr>Is the AI Bubble About to Burst?</vt:lpstr>
      <vt:lpstr>My Blogger &amp; Links</vt:lpstr>
      <vt:lpstr>Reference Links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(Artificial Intelligence)</dc:title>
  <dc:creator>Microsoft account</dc:creator>
  <cp:lastModifiedBy>Microsoft account</cp:lastModifiedBy>
  <cp:revision>123</cp:revision>
  <dcterms:created xsi:type="dcterms:W3CDTF">2025-10-04T03:05:42Z</dcterms:created>
  <dcterms:modified xsi:type="dcterms:W3CDTF">2025-11-18T05:37:47Z</dcterms:modified>
</cp:coreProperties>
</file>